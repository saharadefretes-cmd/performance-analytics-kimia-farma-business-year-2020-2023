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62" r:id="rId6"/>
    <p:sldId id="267" r:id="rId7"/>
    <p:sldId id="271" r:id="rId8"/>
    <p:sldId id="263" r:id="rId9"/>
    <p:sldId id="264" r:id="rId10"/>
    <p:sldId id="268" r:id="rId11"/>
    <p:sldId id="269" r:id="rId12"/>
    <p:sldId id="270" r:id="rId13"/>
    <p:sldId id="265" r:id="rId14"/>
    <p:sldId id="272" r:id="rId15"/>
    <p:sldId id="273" r:id="rId16"/>
    <p:sldId id="266" r:id="rId17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9"/>
      <p:bold r:id="rId20"/>
      <p:italic r:id="rId21"/>
      <p:boldItalic r:id="rId22"/>
    </p:embeddedFont>
    <p:embeddedFont>
      <p:font typeface="Rubik" panose="020B0604020202020204" charset="-79"/>
      <p:regular r:id="rId23"/>
      <p:bold r:id="rId24"/>
      <p:italic r:id="rId25"/>
      <p:boldItalic r:id="rId26"/>
    </p:embeddedFont>
    <p:embeddedFont>
      <p:font typeface="Rubik Light" panose="020B0604020202020204" charset="-79"/>
      <p:regular r:id="rId27"/>
      <p:bold r:id="rId28"/>
      <p:italic r:id="rId29"/>
      <p:boldItalic r:id="rId30"/>
    </p:embeddedFont>
    <p:embeddedFont>
      <p:font typeface="Rubik Medium" panose="020B0604020202020204" charset="-79"/>
      <p:regular r:id="rId31"/>
      <p:bold r:id="rId32"/>
      <p:italic r:id="rId33"/>
      <p:boldItalic r:id="rId34"/>
    </p:embeddedFont>
    <p:embeddedFont>
      <p:font typeface="Rubik SemiBold" panose="020B0604020202020204" charset="-79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1nl8uAJepcjcA2CnLI/GAkZtj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-5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[bquxjob_217e65ae_19b65c485a5.csv]bquxjob_217e65ae_19b65c485a5!PivotTable4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200" b="0" dirty="0">
                <a:effectLst/>
              </a:rPr>
              <a:t>Total Transaction and Total Customer per Year</a:t>
            </a:r>
          </a:p>
        </c:rich>
      </c:tx>
      <c:layout>
        <c:manualLayout>
          <c:xMode val="edge"/>
          <c:yMode val="edge"/>
          <c:x val="0.15052865414155736"/>
          <c:y val="3.14035715009868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8277354993493448E-2"/>
          <c:y val="0.15852109279968138"/>
          <c:w val="0.88993187334184665"/>
          <c:h val="0.46502566823360841"/>
        </c:manualLayout>
      </c:layout>
      <c:lineChart>
        <c:grouping val="standard"/>
        <c:varyColors val="0"/>
        <c:ser>
          <c:idx val="0"/>
          <c:order val="0"/>
          <c:tx>
            <c:strRef>
              <c:f>bquxjob_217e65ae_19b65c485a5!$G$1</c:f>
              <c:strCache>
                <c:ptCount val="1"/>
                <c:pt idx="0">
                  <c:v>Sum of Total_Transaction</c:v>
                </c:pt>
              </c:strCache>
            </c:strRef>
          </c:tx>
          <c:spPr>
            <a:ln w="28575" cap="rnd">
              <a:solidFill>
                <a:srgbClr val="2F21F3"/>
              </a:solidFill>
              <a:round/>
            </a:ln>
            <a:effectLst/>
          </c:spPr>
          <c:marker>
            <c:symbol val="none"/>
          </c:marker>
          <c:cat>
            <c:multiLvlStrRef>
              <c:f>bquxjob_217e65ae_19b65c485a5!$F$2:$F$54</c:f>
              <c:multiLvlStrCache>
                <c:ptCount val="4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  <c:pt idx="24">
                    <c:v>2022</c:v>
                  </c:pt>
                  <c:pt idx="36">
                    <c:v>2023</c:v>
                  </c:pt>
                </c:lvl>
              </c:multiLvlStrCache>
            </c:multiLvlStrRef>
          </c:cat>
          <c:val>
            <c:numRef>
              <c:f>bquxjob_217e65ae_19b65c485a5!$G$2:$G$54</c:f>
              <c:numCache>
                <c:formatCode>General</c:formatCode>
                <c:ptCount val="48"/>
                <c:pt idx="0">
                  <c:v>14259</c:v>
                </c:pt>
                <c:pt idx="1">
                  <c:v>13346</c:v>
                </c:pt>
                <c:pt idx="2">
                  <c:v>14366</c:v>
                </c:pt>
                <c:pt idx="3">
                  <c:v>13772</c:v>
                </c:pt>
                <c:pt idx="4">
                  <c:v>14447</c:v>
                </c:pt>
                <c:pt idx="5">
                  <c:v>13778</c:v>
                </c:pt>
                <c:pt idx="6">
                  <c:v>14161</c:v>
                </c:pt>
                <c:pt idx="7">
                  <c:v>14253</c:v>
                </c:pt>
                <c:pt idx="8">
                  <c:v>13692</c:v>
                </c:pt>
                <c:pt idx="9">
                  <c:v>14293</c:v>
                </c:pt>
                <c:pt idx="10">
                  <c:v>13928</c:v>
                </c:pt>
                <c:pt idx="11">
                  <c:v>14356</c:v>
                </c:pt>
                <c:pt idx="12">
                  <c:v>14302</c:v>
                </c:pt>
                <c:pt idx="13">
                  <c:v>13031</c:v>
                </c:pt>
                <c:pt idx="14">
                  <c:v>14138</c:v>
                </c:pt>
                <c:pt idx="15">
                  <c:v>13750</c:v>
                </c:pt>
                <c:pt idx="16">
                  <c:v>14297</c:v>
                </c:pt>
                <c:pt idx="17">
                  <c:v>13849</c:v>
                </c:pt>
                <c:pt idx="18">
                  <c:v>14161</c:v>
                </c:pt>
                <c:pt idx="19">
                  <c:v>14193</c:v>
                </c:pt>
                <c:pt idx="20">
                  <c:v>13804</c:v>
                </c:pt>
                <c:pt idx="21">
                  <c:v>13938</c:v>
                </c:pt>
                <c:pt idx="22">
                  <c:v>13850</c:v>
                </c:pt>
                <c:pt idx="23">
                  <c:v>14384</c:v>
                </c:pt>
                <c:pt idx="24">
                  <c:v>14344</c:v>
                </c:pt>
                <c:pt idx="25">
                  <c:v>12942</c:v>
                </c:pt>
                <c:pt idx="26">
                  <c:v>14316</c:v>
                </c:pt>
                <c:pt idx="27">
                  <c:v>13923</c:v>
                </c:pt>
                <c:pt idx="28">
                  <c:v>14241</c:v>
                </c:pt>
                <c:pt idx="29">
                  <c:v>13932</c:v>
                </c:pt>
                <c:pt idx="30">
                  <c:v>14200</c:v>
                </c:pt>
                <c:pt idx="31">
                  <c:v>14161</c:v>
                </c:pt>
                <c:pt idx="32">
                  <c:v>13932</c:v>
                </c:pt>
                <c:pt idx="33">
                  <c:v>14421</c:v>
                </c:pt>
                <c:pt idx="34">
                  <c:v>13995</c:v>
                </c:pt>
                <c:pt idx="35">
                  <c:v>14235</c:v>
                </c:pt>
                <c:pt idx="36">
                  <c:v>14282</c:v>
                </c:pt>
                <c:pt idx="37">
                  <c:v>13005</c:v>
                </c:pt>
                <c:pt idx="38">
                  <c:v>14297</c:v>
                </c:pt>
                <c:pt idx="39">
                  <c:v>13671</c:v>
                </c:pt>
                <c:pt idx="40">
                  <c:v>14166</c:v>
                </c:pt>
                <c:pt idx="41">
                  <c:v>13715</c:v>
                </c:pt>
                <c:pt idx="42">
                  <c:v>14294</c:v>
                </c:pt>
                <c:pt idx="43">
                  <c:v>14166</c:v>
                </c:pt>
                <c:pt idx="44">
                  <c:v>13927</c:v>
                </c:pt>
                <c:pt idx="45">
                  <c:v>14200</c:v>
                </c:pt>
                <c:pt idx="46">
                  <c:v>13814</c:v>
                </c:pt>
                <c:pt idx="47">
                  <c:v>13931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3A-4AF5-80FD-3576118B4C9C}"/>
            </c:ext>
          </c:extLst>
        </c:ser>
        <c:ser>
          <c:idx val="1"/>
          <c:order val="1"/>
          <c:tx>
            <c:strRef>
              <c:f>bquxjob_217e65ae_19b65c485a5!$H$1</c:f>
              <c:strCache>
                <c:ptCount val="1"/>
                <c:pt idx="0">
                  <c:v>Sum of Total_customers</c:v>
                </c:pt>
              </c:strCache>
            </c:strRef>
          </c:tx>
          <c:spPr>
            <a:ln w="28575" cap="rnd">
              <a:solidFill>
                <a:srgbClr val="FEB52B"/>
              </a:solidFill>
              <a:round/>
            </a:ln>
            <a:effectLst/>
          </c:spPr>
          <c:marker>
            <c:symbol val="none"/>
          </c:marker>
          <c:cat>
            <c:multiLvlStrRef>
              <c:f>bquxjob_217e65ae_19b65c485a5!$F$2:$F$54</c:f>
              <c:multiLvlStrCache>
                <c:ptCount val="4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  <c:pt idx="24">
                    <c:v>2022</c:v>
                  </c:pt>
                  <c:pt idx="36">
                    <c:v>2023</c:v>
                  </c:pt>
                </c:lvl>
              </c:multiLvlStrCache>
            </c:multiLvlStrRef>
          </c:cat>
          <c:val>
            <c:numRef>
              <c:f>bquxjob_217e65ae_19b65c485a5!$H$2:$H$54</c:f>
              <c:numCache>
                <c:formatCode>General</c:formatCode>
                <c:ptCount val="48"/>
                <c:pt idx="0">
                  <c:v>13133</c:v>
                </c:pt>
                <c:pt idx="1">
                  <c:v>12347</c:v>
                </c:pt>
                <c:pt idx="2">
                  <c:v>13204</c:v>
                </c:pt>
                <c:pt idx="3">
                  <c:v>12719</c:v>
                </c:pt>
                <c:pt idx="4">
                  <c:v>13220</c:v>
                </c:pt>
                <c:pt idx="5">
                  <c:v>12705</c:v>
                </c:pt>
                <c:pt idx="6">
                  <c:v>13011</c:v>
                </c:pt>
                <c:pt idx="7">
                  <c:v>13088</c:v>
                </c:pt>
                <c:pt idx="8">
                  <c:v>12638</c:v>
                </c:pt>
                <c:pt idx="9">
                  <c:v>13217</c:v>
                </c:pt>
                <c:pt idx="10">
                  <c:v>12852</c:v>
                </c:pt>
                <c:pt idx="11">
                  <c:v>13128</c:v>
                </c:pt>
                <c:pt idx="12">
                  <c:v>13068</c:v>
                </c:pt>
                <c:pt idx="13">
                  <c:v>12022</c:v>
                </c:pt>
                <c:pt idx="14">
                  <c:v>12982</c:v>
                </c:pt>
                <c:pt idx="15">
                  <c:v>12626</c:v>
                </c:pt>
                <c:pt idx="16">
                  <c:v>13171</c:v>
                </c:pt>
                <c:pt idx="17">
                  <c:v>12780</c:v>
                </c:pt>
                <c:pt idx="18">
                  <c:v>12965</c:v>
                </c:pt>
                <c:pt idx="19">
                  <c:v>13025</c:v>
                </c:pt>
                <c:pt idx="20">
                  <c:v>12654</c:v>
                </c:pt>
                <c:pt idx="21">
                  <c:v>12758</c:v>
                </c:pt>
                <c:pt idx="22">
                  <c:v>12812</c:v>
                </c:pt>
                <c:pt idx="23">
                  <c:v>13181</c:v>
                </c:pt>
                <c:pt idx="24">
                  <c:v>13177</c:v>
                </c:pt>
                <c:pt idx="25">
                  <c:v>11938</c:v>
                </c:pt>
                <c:pt idx="26">
                  <c:v>13092</c:v>
                </c:pt>
                <c:pt idx="27">
                  <c:v>12795</c:v>
                </c:pt>
                <c:pt idx="28">
                  <c:v>13076</c:v>
                </c:pt>
                <c:pt idx="29">
                  <c:v>12793</c:v>
                </c:pt>
                <c:pt idx="30">
                  <c:v>13044</c:v>
                </c:pt>
                <c:pt idx="31">
                  <c:v>13018</c:v>
                </c:pt>
                <c:pt idx="32">
                  <c:v>12818</c:v>
                </c:pt>
                <c:pt idx="33">
                  <c:v>13158</c:v>
                </c:pt>
                <c:pt idx="34">
                  <c:v>12874</c:v>
                </c:pt>
                <c:pt idx="35">
                  <c:v>13067</c:v>
                </c:pt>
                <c:pt idx="36">
                  <c:v>13098</c:v>
                </c:pt>
                <c:pt idx="37">
                  <c:v>12085</c:v>
                </c:pt>
                <c:pt idx="38">
                  <c:v>13153</c:v>
                </c:pt>
                <c:pt idx="39">
                  <c:v>12610</c:v>
                </c:pt>
                <c:pt idx="40">
                  <c:v>12992</c:v>
                </c:pt>
                <c:pt idx="41">
                  <c:v>12571</c:v>
                </c:pt>
                <c:pt idx="42">
                  <c:v>13124</c:v>
                </c:pt>
                <c:pt idx="43">
                  <c:v>13041</c:v>
                </c:pt>
                <c:pt idx="44">
                  <c:v>12791</c:v>
                </c:pt>
                <c:pt idx="45">
                  <c:v>13074</c:v>
                </c:pt>
                <c:pt idx="46">
                  <c:v>12701</c:v>
                </c:pt>
                <c:pt idx="47">
                  <c:v>12846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3A-4AF5-80FD-3576118B4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4453376"/>
        <c:axId val="724450496"/>
      </c:lineChart>
      <c:catAx>
        <c:axId val="724453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450496"/>
        <c:crosses val="autoZero"/>
        <c:auto val="1"/>
        <c:lblAlgn val="ctr"/>
        <c:lblOffset val="100"/>
        <c:noMultiLvlLbl val="0"/>
      </c:catAx>
      <c:valAx>
        <c:axId val="7244504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453376"/>
        <c:crosses val="autoZero"/>
        <c:crossBetween val="between"/>
        <c:majorUnit val="4000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0B090205-AE49-54A1-2F7D-84C03EB83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>
            <a:extLst>
              <a:ext uri="{FF2B5EF4-FFF2-40B4-BE49-F238E27FC236}">
                <a16:creationId xmlns:a16="http://schemas.microsoft.com/office/drawing/2014/main" id="{0929C75F-1BE9-83E4-A9A7-2A3C4A891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>
            <a:extLst>
              <a:ext uri="{FF2B5EF4-FFF2-40B4-BE49-F238E27FC236}">
                <a16:creationId xmlns:a16="http://schemas.microsoft.com/office/drawing/2014/main" id="{B2B04141-C6A9-FB45-3112-B35B99132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8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2193705-F7D6-6157-7EDA-592D718D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>
            <a:extLst>
              <a:ext uri="{FF2B5EF4-FFF2-40B4-BE49-F238E27FC236}">
                <a16:creationId xmlns:a16="http://schemas.microsoft.com/office/drawing/2014/main" id="{A27AFADD-370F-B9CD-6D45-C93670F01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3ec2985a68_1_42:notes">
            <a:extLst>
              <a:ext uri="{FF2B5EF4-FFF2-40B4-BE49-F238E27FC236}">
                <a16:creationId xmlns:a16="http://schemas.microsoft.com/office/drawing/2014/main" id="{D64C54AA-EF6F-91BA-9378-D3CBFAF00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4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3ec2985a6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55DAC30-9A85-A4D4-8FCB-7B342F7D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>
            <a:extLst>
              <a:ext uri="{FF2B5EF4-FFF2-40B4-BE49-F238E27FC236}">
                <a16:creationId xmlns:a16="http://schemas.microsoft.com/office/drawing/2014/main" id="{145C6855-D58E-4382-8A2F-9DFFAC57C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>
            <a:extLst>
              <a:ext uri="{FF2B5EF4-FFF2-40B4-BE49-F238E27FC236}">
                <a16:creationId xmlns:a16="http://schemas.microsoft.com/office/drawing/2014/main" id="{AEDD9770-679C-9EF4-195E-F4AEA85C8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062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B7B658E4-3124-E6E5-1EC0-ABC10E5A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>
            <a:extLst>
              <a:ext uri="{FF2B5EF4-FFF2-40B4-BE49-F238E27FC236}">
                <a16:creationId xmlns:a16="http://schemas.microsoft.com/office/drawing/2014/main" id="{2ED77F13-0CF8-E90E-D4CB-FF8F0894F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>
            <a:extLst>
              <a:ext uri="{FF2B5EF4-FFF2-40B4-BE49-F238E27FC236}">
                <a16:creationId xmlns:a16="http://schemas.microsoft.com/office/drawing/2014/main" id="{ECD0AF2A-FF8F-6D43-507A-45EF023B1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502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1AAE50FE-092F-D68F-3009-84089BCD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>
            <a:extLst>
              <a:ext uri="{FF2B5EF4-FFF2-40B4-BE49-F238E27FC236}">
                <a16:creationId xmlns:a16="http://schemas.microsoft.com/office/drawing/2014/main" id="{110439C4-834B-C8A7-66F1-C18DFF71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>
            <a:extLst>
              <a:ext uri="{FF2B5EF4-FFF2-40B4-BE49-F238E27FC236}">
                <a16:creationId xmlns:a16="http://schemas.microsoft.com/office/drawing/2014/main" id="{76C32ADC-2D56-F1F9-B89B-1CFCE967C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518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A6BC9FF5-2EE0-6A54-6826-021D59FF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>
            <a:extLst>
              <a:ext uri="{FF2B5EF4-FFF2-40B4-BE49-F238E27FC236}">
                <a16:creationId xmlns:a16="http://schemas.microsoft.com/office/drawing/2014/main" id="{8996A7F9-AA4D-7DF8-E47F-268CDE4BB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>
            <a:extLst>
              <a:ext uri="{FF2B5EF4-FFF2-40B4-BE49-F238E27FC236}">
                <a16:creationId xmlns:a16="http://schemas.microsoft.com/office/drawing/2014/main" id="{17FC14ED-69ED-8D82-9FC4-E6B7004ED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309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9F2CA7AB-392E-7ED3-316A-60AD02D9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>
            <a:extLst>
              <a:ext uri="{FF2B5EF4-FFF2-40B4-BE49-F238E27FC236}">
                <a16:creationId xmlns:a16="http://schemas.microsoft.com/office/drawing/2014/main" id="{272C0B9E-F6B0-486A-8B97-52B401526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>
            <a:extLst>
              <a:ext uri="{FF2B5EF4-FFF2-40B4-BE49-F238E27FC236}">
                <a16:creationId xmlns:a16="http://schemas.microsoft.com/office/drawing/2014/main" id="{88D41C8E-AFB3-4541-F884-D12AF3DE4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018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hyperlink" Target="https://www.linkedin.com/in/saharadefret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aharadefretes-cmd/Performance-Analytics-Kimia-Farma-Business-Year-2020-2023" TargetMode="External"/><Relationship Id="rId5" Type="http://schemas.openxmlformats.org/officeDocument/2006/relationships/hyperlink" Target="https://drive.google.com/file/d/1rxLdzz2bv6rI0OHSvLWRVKgYPgJIgLY2/view?usp=drivesdk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nsole.cloud.google.com/bigquery?ws=!1m5!1m4!4m3!1srakaminkfanalytics-482207!2sRakamin_KF_Analytics!3sKF_Tabel_Analisis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spreadsheets/d/1rGKydtFMtl-uRneGsOakiPDRtkbGTwFDnFudVxSr27c/edit?usp=sharing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sole.cloud.google.com/bigquery?ws=!1m7!1m6!12m5!1m3!1srakaminkfanalytics-482207!2sasia-southeast2!3s2cbc5d90-84a7-4a7e-b904-8b263e4bc68b!2e1" TargetMode="External"/><Relationship Id="rId5" Type="http://schemas.openxmlformats.org/officeDocument/2006/relationships/hyperlink" Target="https://docs.google.com/spreadsheets/d/1280h3jwYvu1mAJEjTTv5o9dMMRQ3z1Fz2mvbEtLW018/edit?usp=sharing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sole.cloud.google.com/bigquery?project=rakaminkfanalytics-482207&amp;ws=!1m14!1m6!12m5!1m3!1srakaminkfanalytics-482207!2sasia-southeast2!3s9a62a324-5629-48fe-b470-b2c2994604ee!2e1!1m6!12m5!1m3!1srakaminkfanalytics-482207!2sasia-southeast2!3s4026566d-c398-4b3f-a4bd-c9e3ee4398c5!2e1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console.cloud.google.com/bigquery?ws=!1m7!1m6!12m5!1m3!1srakaminkfanalytics-482207!2sasia-southeast2!3s97d2b209-fe9f-419a-a68e-baf9fbe2915b!2e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sole.cloud.google.com/bigquery?project=rakaminkfanalytics-482207&amp;ws=!1m12!1m4!4m3!1srakaminkfanalytics-482207!2sRakamin_KF_Analytics!3sTotal%2520Transaction%2520PerYear!1m6!12m5!1m3!1srakaminkfanalytics-482207!2sasia-southeast2!3s9a62a324-5629-48fe-b470-b2c2994604ee!2e1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hyperlink" Target="https://lookerstudio.google.com/s/hLPi56O5YY0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453852" y="1272700"/>
            <a:ext cx="6239100" cy="203129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4500"/>
            </a:pPr>
            <a:r>
              <a:rPr lang="en-US" sz="4000" dirty="0">
                <a:solidFill>
                  <a:schemeClr val="bg1"/>
                </a:solidFill>
              </a:rPr>
              <a:t>Performance Analytics Kimia Farma Business Year 2020-2023</a:t>
            </a:r>
            <a:endParaRPr sz="1600" b="0" i="0" u="none" strike="noStrike" cap="none" dirty="0">
              <a:solidFill>
                <a:schemeClr val="bg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Kimia Farma </a:t>
            </a:r>
            <a:r>
              <a:rPr lang="en" sz="25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- </a:t>
            </a: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Big Data Analytics</a:t>
            </a:r>
            <a:endParaRPr sz="25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Sahara</a:t>
            </a:r>
            <a:endParaRPr sz="3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0825" y="133900"/>
            <a:ext cx="1581660" cy="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95502" y="613611"/>
            <a:ext cx="2689910" cy="3125603"/>
          </a:xfrm>
          <a:prstGeom prst="roundRect">
            <a:avLst>
              <a:gd name="adj" fmla="val 16667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5049" t="-87390" r="-52098" b="-31869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Sahara</a:t>
            </a:r>
            <a:endParaRPr sz="2000" b="0" i="0" u="none" strike="noStrike" cap="none" dirty="0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867250" y="1480973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dirty="0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Data Analyst</a:t>
            </a:r>
            <a:endParaRPr sz="2000" b="0" i="0" u="none" strike="noStrike" cap="none" dirty="0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4640804" y="1973573"/>
            <a:ext cx="435857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50000"/>
              </a:lnSpc>
              <a:buSzPts val="2000"/>
            </a:pPr>
            <a:r>
              <a:rPr lang="en-ID" sz="1200" dirty="0"/>
              <a:t>Saya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Lulusan</a:t>
            </a:r>
            <a:r>
              <a:rPr lang="en-ID" sz="1200" dirty="0"/>
              <a:t> Teknik Industri Universitas </a:t>
            </a:r>
            <a:r>
              <a:rPr lang="en-ID" sz="1200" dirty="0" err="1"/>
              <a:t>Malikussaleh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pengalaman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Management Trainee di PT Mitra </a:t>
            </a:r>
            <a:r>
              <a:rPr lang="en-ID" sz="1200" dirty="0" err="1"/>
              <a:t>Bisnis</a:t>
            </a:r>
            <a:r>
              <a:rPr lang="en-ID" sz="1200" dirty="0"/>
              <a:t> </a:t>
            </a:r>
            <a:r>
              <a:rPr lang="en-ID" sz="1200" dirty="0" err="1"/>
              <a:t>Keluarga</a:t>
            </a:r>
            <a:r>
              <a:rPr lang="en-ID" sz="1200" dirty="0"/>
              <a:t> Ventura dan </a:t>
            </a:r>
            <a:r>
              <a:rPr lang="en-ID" sz="1200" dirty="0" err="1"/>
              <a:t>magang</a:t>
            </a:r>
            <a:r>
              <a:rPr lang="en-ID" sz="1200" dirty="0"/>
              <a:t> di </a:t>
            </a:r>
            <a:r>
              <a:rPr lang="en-ID" sz="1200" dirty="0" err="1"/>
              <a:t>bagian</a:t>
            </a:r>
            <a:r>
              <a:rPr lang="en-ID" sz="1200" dirty="0"/>
              <a:t> </a:t>
            </a:r>
            <a:r>
              <a:rPr lang="en-ID" sz="1200" dirty="0" err="1"/>
              <a:t>Perencanaan</a:t>
            </a:r>
            <a:r>
              <a:rPr lang="en-ID" sz="1200" dirty="0"/>
              <a:t> </a:t>
            </a:r>
            <a:r>
              <a:rPr lang="en-ID" sz="1200" dirty="0" err="1"/>
              <a:t>Produksi</a:t>
            </a:r>
            <a:r>
              <a:rPr lang="en-ID" sz="1200" dirty="0"/>
              <a:t> PT </a:t>
            </a:r>
            <a:r>
              <a:rPr lang="en-ID" sz="1200" dirty="0" err="1"/>
              <a:t>Pupuk</a:t>
            </a:r>
            <a:r>
              <a:rPr lang="en-ID" sz="1200" dirty="0"/>
              <a:t> Iskandar Muda.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sertifikasi</a:t>
            </a:r>
            <a:r>
              <a:rPr lang="en-ID" sz="1200" dirty="0"/>
              <a:t> Data Analyst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Growia</a:t>
            </a:r>
            <a:r>
              <a:rPr lang="en-ID" sz="1200" dirty="0"/>
              <a:t> Education dan </a:t>
            </a:r>
            <a:r>
              <a:rPr lang="en-ID" sz="1200" dirty="0" err="1"/>
              <a:t>menguasai</a:t>
            </a:r>
            <a:r>
              <a:rPr lang="en-ID" sz="1200" dirty="0"/>
              <a:t> tools </a:t>
            </a:r>
            <a:r>
              <a:rPr lang="en-ID" sz="1200" dirty="0" err="1"/>
              <a:t>analitik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Excel, Python, SQL, Tableau, dan Google Data Studio. Saya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berpikir</a:t>
            </a:r>
            <a:r>
              <a:rPr lang="en-ID" sz="1200" dirty="0"/>
              <a:t> </a:t>
            </a:r>
            <a:r>
              <a:rPr lang="en-ID" sz="1200" dirty="0" err="1"/>
              <a:t>strategis</a:t>
            </a:r>
            <a:r>
              <a:rPr lang="en-ID" sz="1200" dirty="0"/>
              <a:t>, </a:t>
            </a:r>
            <a:r>
              <a:rPr lang="en-ID" sz="1200" dirty="0" err="1"/>
              <a:t>bekerja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terstruktur</a:t>
            </a:r>
            <a:r>
              <a:rPr lang="en-ID" sz="1200" dirty="0"/>
              <a:t>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mampu</a:t>
            </a:r>
            <a:r>
              <a:rPr lang="en-ID" sz="1200" dirty="0"/>
              <a:t> </a:t>
            </a:r>
            <a:r>
              <a:rPr lang="en-ID" sz="1200" dirty="0" err="1"/>
              <a:t>melihat</a:t>
            </a:r>
            <a:r>
              <a:rPr lang="en-ID" sz="1200" dirty="0"/>
              <a:t> </a:t>
            </a:r>
            <a:r>
              <a:rPr lang="en-ID" sz="1200" dirty="0" err="1"/>
              <a:t>gambaran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menyusun</a:t>
            </a:r>
            <a:r>
              <a:rPr lang="en-ID" sz="1200" dirty="0"/>
              <a:t> </a:t>
            </a:r>
            <a:r>
              <a:rPr lang="en-ID" sz="1200" dirty="0" err="1"/>
              <a:t>solusi</a:t>
            </a:r>
            <a:r>
              <a:rPr lang="en-ID" sz="1200" dirty="0"/>
              <a:t> </a:t>
            </a:r>
            <a:r>
              <a:rPr lang="en-ID" sz="1200" dirty="0" err="1"/>
              <a:t>berbasis</a:t>
            </a:r>
            <a:r>
              <a:rPr lang="en-ID" sz="1200" dirty="0"/>
              <a:t> data. 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004800" y="392832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Padangsidimpuan, Sumatera Utara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1004800" y="4750550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2000"/>
            </a:pPr>
            <a:r>
              <a:rPr lang="en-ID" sz="1200" dirty="0">
                <a:latin typeface="Rubik Medium"/>
                <a:ea typeface="Rubik Medium"/>
                <a:cs typeface="Rubik Medium"/>
                <a:sym typeface="Rubik Medium"/>
                <a:hlinkClick r:id="rId9"/>
              </a:rPr>
              <a:t>https://www.linkedin.com/in/saharadefretes/</a:t>
            </a:r>
            <a:r>
              <a:rPr lang="en-ID" sz="120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1004800" y="4358988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saharadefretes@gmail.com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340500" y="985244"/>
            <a:ext cx="515875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indent="288925" algn="just">
              <a:lnSpc>
                <a:spcPct val="150000"/>
              </a:lnSpc>
            </a:pPr>
            <a:r>
              <a:rPr lang="en-ID" sz="1200" dirty="0"/>
              <a:t>Kimia Farma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industri</a:t>
            </a:r>
            <a:r>
              <a:rPr lang="en-ID" sz="1200" dirty="0"/>
              <a:t> </a:t>
            </a:r>
            <a:r>
              <a:rPr lang="en-ID" sz="1200" dirty="0" err="1"/>
              <a:t>farmasi</a:t>
            </a:r>
            <a:r>
              <a:rPr lang="en-ID" sz="1200" dirty="0"/>
              <a:t> </a:t>
            </a:r>
            <a:r>
              <a:rPr lang="en-ID" sz="1200" dirty="0" err="1"/>
              <a:t>pertama</a:t>
            </a:r>
            <a:r>
              <a:rPr lang="en-ID" sz="1200" dirty="0"/>
              <a:t> di Indonesia yang </a:t>
            </a:r>
            <a:r>
              <a:rPr lang="en-ID" sz="1200" dirty="0" err="1"/>
              <a:t>didirikan</a:t>
            </a:r>
            <a:r>
              <a:rPr lang="en-ID" sz="1200" dirty="0"/>
              <a:t> oleh </a:t>
            </a:r>
            <a:r>
              <a:rPr lang="en-ID" sz="1200" dirty="0" err="1"/>
              <a:t>Pemerintah</a:t>
            </a:r>
            <a:r>
              <a:rPr lang="en-ID" sz="1200" dirty="0"/>
              <a:t> </a:t>
            </a:r>
            <a:r>
              <a:rPr lang="en-ID" sz="1200" dirty="0" err="1"/>
              <a:t>Hindia</a:t>
            </a:r>
            <a:r>
              <a:rPr lang="en-ID" sz="1200" dirty="0"/>
              <a:t> Belanda pada </a:t>
            </a:r>
            <a:r>
              <a:rPr lang="en-ID" sz="1200" dirty="0" err="1"/>
              <a:t>tahun</a:t>
            </a:r>
            <a:r>
              <a:rPr lang="en-ID" sz="1200" dirty="0"/>
              <a:t> 1817.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bagian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Holding BUMN Farmasi,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telah</a:t>
            </a:r>
            <a:r>
              <a:rPr lang="en-ID" sz="1200" dirty="0"/>
              <a:t> </a:t>
            </a:r>
            <a:r>
              <a:rPr lang="en-ID" sz="1200" dirty="0" err="1"/>
              <a:t>bertransformasi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penyedia</a:t>
            </a:r>
            <a:r>
              <a:rPr lang="en-ID" sz="1200" dirty="0"/>
              <a:t> </a:t>
            </a:r>
            <a:r>
              <a:rPr lang="en-ID" sz="1200" dirty="0" err="1"/>
              <a:t>layanan</a:t>
            </a:r>
            <a:r>
              <a:rPr lang="en-ID" sz="1200" dirty="0"/>
              <a:t> </a:t>
            </a:r>
            <a:r>
              <a:rPr lang="en-ID" sz="1200" dirty="0" err="1"/>
              <a:t>kesehatan</a:t>
            </a:r>
            <a:r>
              <a:rPr lang="en-ID" sz="1200" dirty="0"/>
              <a:t> </a:t>
            </a:r>
            <a:r>
              <a:rPr lang="en-ID" sz="1200" dirty="0" err="1"/>
              <a:t>terintegrasi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hulu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hilir</a:t>
            </a:r>
            <a:r>
              <a:rPr lang="en-ID" sz="1200" dirty="0"/>
              <a:t> (</a:t>
            </a:r>
            <a:r>
              <a:rPr lang="en-ID" sz="1200" i="1" dirty="0"/>
              <a:t>Integrated Healthcare</a:t>
            </a:r>
            <a:r>
              <a:rPr lang="en-ID" sz="1200" dirty="0"/>
              <a:t>) yang </a:t>
            </a:r>
            <a:r>
              <a:rPr lang="en-ID" sz="1200" dirty="0" err="1"/>
              <a:t>mencakup</a:t>
            </a:r>
            <a:r>
              <a:rPr lang="en-ID" sz="1200" dirty="0"/>
              <a:t>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Manufaktur</a:t>
            </a:r>
            <a:r>
              <a:rPr lang="en-ID" sz="1200" dirty="0"/>
              <a:t> Farmasi: </a:t>
            </a:r>
            <a:r>
              <a:rPr lang="en-ID" sz="1200" dirty="0" err="1"/>
              <a:t>Mengelola</a:t>
            </a:r>
            <a:r>
              <a:rPr lang="en-ID" sz="1200" dirty="0"/>
              <a:t> </a:t>
            </a:r>
            <a:r>
              <a:rPr lang="en-ID" sz="1200" dirty="0" err="1"/>
              <a:t>fasilitas</a:t>
            </a:r>
            <a:r>
              <a:rPr lang="en-ID" sz="1200" dirty="0"/>
              <a:t> </a:t>
            </a:r>
            <a:r>
              <a:rPr lang="en-ID" sz="1200" dirty="0" err="1"/>
              <a:t>produksi</a:t>
            </a:r>
            <a:r>
              <a:rPr lang="en-ID" sz="1200" dirty="0"/>
              <a:t> </a:t>
            </a:r>
            <a:r>
              <a:rPr lang="en-ID" sz="1200" dirty="0" err="1"/>
              <a:t>obat-obatan</a:t>
            </a:r>
            <a:r>
              <a:rPr lang="en-ID" sz="1200" dirty="0"/>
              <a:t>, </a:t>
            </a:r>
            <a:r>
              <a:rPr lang="en-ID" sz="1200" dirty="0" err="1"/>
              <a:t>bahan</a:t>
            </a:r>
            <a:r>
              <a:rPr lang="en-ID" sz="1200" dirty="0"/>
              <a:t> </a:t>
            </a:r>
            <a:r>
              <a:rPr lang="en-ID" sz="1200" dirty="0" err="1"/>
              <a:t>baku</a:t>
            </a:r>
            <a:r>
              <a:rPr lang="en-ID" sz="1200" dirty="0"/>
              <a:t> </a:t>
            </a:r>
            <a:r>
              <a:rPr lang="en-ID" sz="1200" dirty="0" err="1"/>
              <a:t>obat</a:t>
            </a:r>
            <a:r>
              <a:rPr lang="en-ID" sz="1200" dirty="0"/>
              <a:t>, </a:t>
            </a:r>
            <a:r>
              <a:rPr lang="en-ID" sz="1200" dirty="0" err="1"/>
              <a:t>hingga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herbal.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Distribusi</a:t>
            </a:r>
            <a:r>
              <a:rPr lang="en-ID" sz="1200" dirty="0"/>
              <a:t> &amp; Logistik: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jaringan</a:t>
            </a:r>
            <a:r>
              <a:rPr lang="en-ID" sz="1200" dirty="0"/>
              <a:t> </a:t>
            </a:r>
            <a:r>
              <a:rPr lang="en-ID" sz="1200" dirty="0" err="1"/>
              <a:t>distribusi</a:t>
            </a:r>
            <a:r>
              <a:rPr lang="en-ID" sz="1200" dirty="0"/>
              <a:t> </a:t>
            </a:r>
            <a:r>
              <a:rPr lang="en-ID" sz="1200" dirty="0" err="1"/>
              <a:t>luas</a:t>
            </a:r>
            <a:r>
              <a:rPr lang="en-ID" sz="1200" dirty="0"/>
              <a:t> di </a:t>
            </a:r>
            <a:r>
              <a:rPr lang="en-ID" sz="1200" dirty="0" err="1"/>
              <a:t>seluruh</a:t>
            </a:r>
            <a:r>
              <a:rPr lang="en-ID" sz="1200" dirty="0"/>
              <a:t> wilayah Indonesia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menjamin</a:t>
            </a:r>
            <a:r>
              <a:rPr lang="en-ID" sz="1200" dirty="0"/>
              <a:t> </a:t>
            </a:r>
            <a:r>
              <a:rPr lang="en-ID" sz="1200" dirty="0" err="1"/>
              <a:t>ketersediaan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</a:t>
            </a:r>
            <a:r>
              <a:rPr lang="en-ID" sz="1200" dirty="0" err="1"/>
              <a:t>kesehatan</a:t>
            </a:r>
            <a:r>
              <a:rPr lang="en-ID" sz="1200" dirty="0"/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Ritel</a:t>
            </a:r>
            <a:r>
              <a:rPr lang="en-ID" sz="1200" dirty="0"/>
              <a:t> Farmasi: </a:t>
            </a:r>
            <a:r>
              <a:rPr lang="en-ID" sz="1200" dirty="0" err="1"/>
              <a:t>Mengoperasikan</a:t>
            </a:r>
            <a:r>
              <a:rPr lang="en-ID" sz="1200" dirty="0"/>
              <a:t> </a:t>
            </a:r>
            <a:r>
              <a:rPr lang="en-ID" sz="1200" dirty="0" err="1"/>
              <a:t>jaringan</a:t>
            </a:r>
            <a:r>
              <a:rPr lang="en-ID" sz="1200" dirty="0"/>
              <a:t> </a:t>
            </a:r>
            <a:r>
              <a:rPr lang="en-ID" sz="1200" dirty="0" err="1"/>
              <a:t>apotek</a:t>
            </a:r>
            <a:r>
              <a:rPr lang="en-ID" sz="1200" dirty="0"/>
              <a:t> </a:t>
            </a:r>
            <a:r>
              <a:rPr lang="en-ID" sz="1200" dirty="0" err="1"/>
              <a:t>terbesar</a:t>
            </a:r>
            <a:r>
              <a:rPr lang="en-ID" sz="1200" dirty="0"/>
              <a:t> di Indonesia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melayani</a:t>
            </a:r>
            <a:r>
              <a:rPr lang="en-ID" sz="1200" dirty="0"/>
              <a:t> </a:t>
            </a:r>
            <a:r>
              <a:rPr lang="en-ID" sz="1200" dirty="0" err="1"/>
              <a:t>kebutuhan</a:t>
            </a:r>
            <a:r>
              <a:rPr lang="en-ID" sz="1200" dirty="0"/>
              <a:t> </a:t>
            </a:r>
            <a:r>
              <a:rPr lang="en-ID" sz="1200" dirty="0" err="1"/>
              <a:t>obat-obatan</a:t>
            </a:r>
            <a:r>
              <a:rPr lang="en-ID" sz="1200" dirty="0"/>
              <a:t> </a:t>
            </a:r>
            <a:r>
              <a:rPr lang="en-ID" sz="1200" dirty="0" err="1"/>
              <a:t>masyarakat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langsung</a:t>
            </a:r>
            <a:r>
              <a:rPr lang="en-ID" sz="1200" dirty="0"/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Layanan</a:t>
            </a:r>
            <a:r>
              <a:rPr lang="en-ID" sz="1200" dirty="0"/>
              <a:t> Kesehatan: </a:t>
            </a:r>
            <a:r>
              <a:rPr lang="en-ID" sz="1200" dirty="0" err="1"/>
              <a:t>Menyediakan</a:t>
            </a:r>
            <a:r>
              <a:rPr lang="en-ID" sz="1200" dirty="0"/>
              <a:t> </a:t>
            </a:r>
            <a:r>
              <a:rPr lang="en-ID" sz="1200" dirty="0" err="1"/>
              <a:t>fasilitas</a:t>
            </a:r>
            <a:r>
              <a:rPr lang="en-ID" sz="1200" dirty="0"/>
              <a:t> </a:t>
            </a:r>
            <a:r>
              <a:rPr lang="en-ID" sz="1200" dirty="0" err="1"/>
              <a:t>laboratorium</a:t>
            </a:r>
            <a:r>
              <a:rPr lang="en-ID" sz="1200" dirty="0"/>
              <a:t> </a:t>
            </a:r>
            <a:r>
              <a:rPr lang="en-ID" sz="1200" dirty="0" err="1"/>
              <a:t>klinik</a:t>
            </a:r>
            <a:r>
              <a:rPr lang="en-ID" sz="1200" dirty="0"/>
              <a:t> dan </a:t>
            </a:r>
            <a:r>
              <a:rPr lang="en-ID" sz="1200" dirty="0" err="1"/>
              <a:t>klinik</a:t>
            </a:r>
            <a:r>
              <a:rPr lang="en-ID" sz="1200" dirty="0"/>
              <a:t> </a:t>
            </a:r>
            <a:r>
              <a:rPr lang="en-ID" sz="1200" dirty="0" err="1"/>
              <a:t>kesehatan</a:t>
            </a:r>
            <a:r>
              <a:rPr lang="en-ID" sz="1200" dirty="0"/>
              <a:t> yang </a:t>
            </a:r>
            <a:r>
              <a:rPr lang="en-ID" sz="1200" dirty="0" err="1"/>
              <a:t>tersebar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nasional</a:t>
            </a:r>
            <a:r>
              <a:rPr lang="en-ID" sz="1200" dirty="0"/>
              <a:t>.</a:t>
            </a:r>
          </a:p>
        </p:txBody>
      </p:sp>
      <p:sp>
        <p:nvSpPr>
          <p:cNvPr id="102" name="Google Shape;102;p4"/>
          <p:cNvSpPr txBox="1"/>
          <p:nvPr/>
        </p:nvSpPr>
        <p:spPr>
          <a:xfrm>
            <a:off x="340500" y="266050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8575" y="1537781"/>
            <a:ext cx="3104925" cy="11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40500" y="1611033"/>
            <a:ext cx="8340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indent="2889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Pada project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ini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dilakukan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evaluasi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kinerja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bisnis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Kimia Farma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dari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tahun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2020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hingga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2023. Dataset yang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digunakan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berisi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informasi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mengenai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data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Transaksi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di Kimia Farma yang di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impor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melalui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data 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yang </a:t>
            </a:r>
            <a:r>
              <a:rPr lang="en-US" sz="1200" b="1" dirty="0" err="1">
                <a:latin typeface="Rubik"/>
                <a:ea typeface="Rubik"/>
                <a:cs typeface="Rubik"/>
                <a:sym typeface="Rubik"/>
              </a:rPr>
              <a:t>berisi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 Final Transaction, </a:t>
            </a:r>
            <a:r>
              <a:rPr lang="en-US" sz="1200" b="1" dirty="0" err="1">
                <a:latin typeface="Rubik"/>
                <a:ea typeface="Rubik"/>
                <a:cs typeface="Rubik"/>
                <a:sym typeface="Rubik"/>
              </a:rPr>
              <a:t>Produk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, Inventory dan Kantor Cabang Kimia Farma yang </a:t>
            </a:r>
            <a:r>
              <a:rPr lang="en-US" sz="1200" b="1" dirty="0" err="1">
                <a:latin typeface="Rubik"/>
                <a:ea typeface="Rubik"/>
                <a:cs typeface="Rubik"/>
                <a:sym typeface="Rubik"/>
              </a:rPr>
              <a:t>berisi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 672 </a:t>
            </a:r>
            <a:r>
              <a:rPr lang="en-US" sz="1200" b="1" dirty="0" err="1">
                <a:latin typeface="Rubik"/>
                <a:ea typeface="Rubik"/>
                <a:cs typeface="Rubik"/>
                <a:sym typeface="Rubik"/>
              </a:rPr>
              <a:t>ribu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 baris </a:t>
            </a:r>
            <a:r>
              <a:rPr lang="en-US" sz="1200" b="1" dirty="0" err="1"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 16 </a:t>
            </a:r>
            <a:r>
              <a:rPr lang="en-US" sz="1200" b="1" dirty="0" err="1">
                <a:latin typeface="Rubik"/>
                <a:ea typeface="Rubik"/>
                <a:cs typeface="Rubik"/>
                <a:sym typeface="Rubik"/>
              </a:rPr>
              <a:t>kolom</a:t>
            </a:r>
            <a:r>
              <a:rPr lang="en-US" sz="1200" b="1" dirty="0"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687900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517086-161E-4EBE-C2C2-E1C4F6A3D8CF}"/>
              </a:ext>
            </a:extLst>
          </p:cNvPr>
          <p:cNvSpPr txBox="1"/>
          <p:nvPr/>
        </p:nvSpPr>
        <p:spPr>
          <a:xfrm>
            <a:off x="2501083" y="2975528"/>
            <a:ext cx="4274211" cy="461665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Explanation </a:t>
            </a:r>
            <a:r>
              <a:rPr lang="en-ID" sz="2400" dirty="0" err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Vidio</a:t>
            </a:r>
            <a:endParaRPr lang="en-ID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59BA2-45A2-7ECE-6315-EA488FDB2110}"/>
              </a:ext>
            </a:extLst>
          </p:cNvPr>
          <p:cNvSpPr txBox="1"/>
          <p:nvPr/>
        </p:nvSpPr>
        <p:spPr>
          <a:xfrm>
            <a:off x="2501083" y="3729560"/>
            <a:ext cx="4274211" cy="461665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GitHub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63DDEC-8E01-25A3-82A2-4CB962C9F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713" y="2845638"/>
            <a:ext cx="4230368" cy="146705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5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Importing Dataset to BigQuery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g23ec2985a68_1_33"/>
          <p:cNvSpPr txBox="1"/>
          <p:nvPr/>
        </p:nvSpPr>
        <p:spPr>
          <a:xfrm>
            <a:off x="308779" y="988786"/>
            <a:ext cx="7070953" cy="2400627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Analisis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dilakukan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menggunakan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beberapa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tools,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yaitu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BigQuery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dan Looker Studio. Pada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BigQuery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akan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dibuat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proyek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baru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nama "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Rakamin_KF_Analytics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” dan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berisi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dataset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nama "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kimia_farma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Adapun data yang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tersedia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adalah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sebagai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berikut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</a:p>
          <a:p>
            <a:pPr marL="171450" lvl="0" indent="-171450">
              <a:lnSpc>
                <a:spcPct val="150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ID" sz="1200" dirty="0"/>
              <a:t>kf_final_transaction.csv </a:t>
            </a:r>
          </a:p>
          <a:p>
            <a:pPr marL="171450" lvl="0" indent="-171450">
              <a:lnSpc>
                <a:spcPct val="150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ID" sz="1200" dirty="0"/>
              <a:t>kf_inventory.csv </a:t>
            </a:r>
          </a:p>
          <a:p>
            <a:pPr marL="171450" lvl="0" indent="-171450">
              <a:lnSpc>
                <a:spcPct val="150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ID" sz="1200" dirty="0"/>
              <a:t>kf_kantor_cabang.csv </a:t>
            </a:r>
          </a:p>
          <a:p>
            <a:pPr marL="171450" lvl="0" indent="-171450">
              <a:lnSpc>
                <a:spcPct val="150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ID" sz="1200" dirty="0"/>
              <a:t>kf_product.csv</a:t>
            </a:r>
            <a:endParaRPr lang="en-US" sz="12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AB9591-72A9-3FE5-6B6A-F017BB4CB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49" y="3389413"/>
            <a:ext cx="2591162" cy="1495634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0FC0FD-7A4A-C00B-C7EA-243DC71C23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853" y="1975618"/>
            <a:ext cx="4230368" cy="479115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9BB9AC4-0A5B-BA05-1BE7-4260531B1CF3}"/>
              </a:ext>
            </a:extLst>
          </p:cNvPr>
          <p:cNvSpPr/>
          <p:nvPr/>
        </p:nvSpPr>
        <p:spPr>
          <a:xfrm>
            <a:off x="5980479" y="3275631"/>
            <a:ext cx="1107952" cy="30353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82658F-E447-D08F-DD55-A1E7E23B7284}"/>
              </a:ext>
            </a:extLst>
          </p:cNvPr>
          <p:cNvSpPr/>
          <p:nvPr/>
        </p:nvSpPr>
        <p:spPr>
          <a:xfrm>
            <a:off x="8041137" y="1964702"/>
            <a:ext cx="794084" cy="25047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53E19487-EEBB-99C4-C80D-339EDB8C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>
            <a:extLst>
              <a:ext uri="{FF2B5EF4-FFF2-40B4-BE49-F238E27FC236}">
                <a16:creationId xmlns:a16="http://schemas.microsoft.com/office/drawing/2014/main" id="{51172151-C8F8-F27D-529E-4CD641E8A8B7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>
            <a:extLst>
              <a:ext uri="{FF2B5EF4-FFF2-40B4-BE49-F238E27FC236}">
                <a16:creationId xmlns:a16="http://schemas.microsoft.com/office/drawing/2014/main" id="{1DAB85F3-E639-3228-F99F-2607A672AC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>
            <a:extLst>
              <a:ext uri="{FF2B5EF4-FFF2-40B4-BE49-F238E27FC236}">
                <a16:creationId xmlns:a16="http://schemas.microsoft.com/office/drawing/2014/main" id="{7A35E0CE-BFBE-6E87-FE66-7AC8DBEF4D7A}"/>
              </a:ext>
            </a:extLst>
          </p:cNvPr>
          <p:cNvSpPr txBox="1"/>
          <p:nvPr/>
        </p:nvSpPr>
        <p:spPr>
          <a:xfrm>
            <a:off x="340500" y="6430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Importing Dataset to BigQuery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FCD96-4745-0782-CEF4-905468DDF7E7}"/>
              </a:ext>
            </a:extLst>
          </p:cNvPr>
          <p:cNvSpPr txBox="1"/>
          <p:nvPr/>
        </p:nvSpPr>
        <p:spPr>
          <a:xfrm>
            <a:off x="340500" y="885585"/>
            <a:ext cx="4941363" cy="390876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--Creating Table Of Analysis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WITH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base_table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(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SELECT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t.transaction_id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t.date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t.branch_id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c.branch_name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c.kota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c.provinsi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c.rating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rating_cabang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t.customer_name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t.product_id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p.product_name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t.discount_percentage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--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Perhitungan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persentase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laba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berdasarkan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harga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B8067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produk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CASE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WHEN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&lt;=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50000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0.10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WHEN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&gt;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50000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AND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&lt;=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100000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0.15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WHEN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&gt;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100000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AND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&lt;=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300000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0.20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WHEN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&gt;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300000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AND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p.price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&lt;=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500000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THEN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0.25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ELSE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B06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0.30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END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persentase_gross_laba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t.rating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rating_transaction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FROM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`rakaminkfanalytics-482207.Rakamin_KF_Analytics.kf_final_transaction`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LEFT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JOIN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`rakaminkfanalytics-482207.Rakamin_KF_Analytics.kf_kantor_cabang`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ON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t.branch_id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=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c.branch_id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LEFT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JOIN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`rakaminkfanalytics-482207.Rakamin_KF_Analytics.kf_product`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AS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   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1967D2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ON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t.product_id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 = </a:t>
            </a:r>
            <a:r>
              <a:rPr kumimoji="0" lang="en-ID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p.product_id</a:t>
            </a:r>
            <a:r>
              <a:rPr kumimoji="0" lang="en-ID" sz="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)</a:t>
            </a:r>
            <a:endParaRPr kumimoji="0" lang="en-ID" sz="800" b="0" i="0" u="none" strike="noStrike" kern="1200" cap="none" spc="0" normalizeH="0" baseline="0" noProof="0" dirty="0">
              <a:ln>
                <a:noFill/>
              </a:ln>
              <a:solidFill>
                <a:srgbClr val="202124"/>
              </a:solidFill>
              <a:effectLst/>
              <a:uLnTx/>
              <a:uFillTx/>
              <a:latin typeface="Roboto Mono" panose="00000009000000000000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8AEA4-8BE5-6BA6-1D50-ADCAB50BE114}"/>
              </a:ext>
            </a:extLst>
          </p:cNvPr>
          <p:cNvSpPr txBox="1"/>
          <p:nvPr/>
        </p:nvSpPr>
        <p:spPr>
          <a:xfrm>
            <a:off x="5440673" y="912024"/>
            <a:ext cx="3510822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SELECT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--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Menghitung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harga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setelah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diskon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price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discount_percentage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nett_sales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--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Menghitung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keuntungan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bersih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((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price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discount_percentage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persentase_gross_laba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nett_profit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base_table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5D662-A3CF-11AB-0917-91CB3B94B1EF}"/>
              </a:ext>
            </a:extLst>
          </p:cNvPr>
          <p:cNvSpPr txBox="1"/>
          <p:nvPr/>
        </p:nvSpPr>
        <p:spPr>
          <a:xfrm>
            <a:off x="5440674" y="2173495"/>
            <a:ext cx="3510822" cy="523220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Query</a:t>
            </a:r>
            <a:endParaRPr lang="en-ID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39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26384710-1C42-19D5-B731-90C30692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>
            <a:extLst>
              <a:ext uri="{FF2B5EF4-FFF2-40B4-BE49-F238E27FC236}">
                <a16:creationId xmlns:a16="http://schemas.microsoft.com/office/drawing/2014/main" id="{1B338DDC-5587-B9CE-3533-9873323ED5DE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>
            <a:extLst>
              <a:ext uri="{FF2B5EF4-FFF2-40B4-BE49-F238E27FC236}">
                <a16:creationId xmlns:a16="http://schemas.microsoft.com/office/drawing/2014/main" id="{7B561B59-5F44-D5BC-8C45-8B03E76820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>
            <a:extLst>
              <a:ext uri="{FF2B5EF4-FFF2-40B4-BE49-F238E27FC236}">
                <a16:creationId xmlns:a16="http://schemas.microsoft.com/office/drawing/2014/main" id="{34E98952-6191-248B-7CD4-6F32D50C3F59}"/>
              </a:ext>
            </a:extLst>
          </p:cNvPr>
          <p:cNvSpPr txBox="1"/>
          <p:nvPr/>
        </p:nvSpPr>
        <p:spPr>
          <a:xfrm>
            <a:off x="340500" y="2680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Tabel Analisa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CF81C-E6B6-FBC8-4B88-1B2E48F74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72" y="1356306"/>
            <a:ext cx="8377002" cy="2739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3E27CA-F07B-4338-E3C4-A36F47C38316}"/>
              </a:ext>
            </a:extLst>
          </p:cNvPr>
          <p:cNvSpPr txBox="1"/>
          <p:nvPr/>
        </p:nvSpPr>
        <p:spPr>
          <a:xfrm>
            <a:off x="340500" y="868313"/>
            <a:ext cx="837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Adapun Tabel Analisa yang </a:t>
            </a:r>
            <a:r>
              <a:rPr lang="en-US" sz="1200" dirty="0" err="1"/>
              <a:t>dihasilkan</a:t>
            </a:r>
            <a:r>
              <a:rPr lang="en-US" sz="1200" dirty="0"/>
              <a:t>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16 </a:t>
            </a:r>
            <a:r>
              <a:rPr lang="en-US" sz="1200" dirty="0" err="1"/>
              <a:t>kolom</a:t>
            </a:r>
            <a:r>
              <a:rPr lang="en-US" sz="1200" dirty="0"/>
              <a:t> dan 672.458 baris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7514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/>
          <p:cNvSpPr txBox="1"/>
          <p:nvPr/>
        </p:nvSpPr>
        <p:spPr>
          <a:xfrm>
            <a:off x="340500" y="26801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Tabel Analisa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73E129-0CC1-9B13-5586-5DFD52012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270" y="868313"/>
            <a:ext cx="8494296" cy="3421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0C8F12-04D6-61CC-9A60-55D6BD6F4A98}"/>
              </a:ext>
            </a:extLst>
          </p:cNvPr>
          <p:cNvSpPr txBox="1"/>
          <p:nvPr/>
        </p:nvSpPr>
        <p:spPr>
          <a:xfrm>
            <a:off x="247270" y="4445686"/>
            <a:ext cx="3815256" cy="584775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32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Sheet</a:t>
            </a:r>
            <a:endParaRPr lang="en-ID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304B1-D859-64DB-DE6B-7EB1B302B40E}"/>
              </a:ext>
            </a:extLst>
          </p:cNvPr>
          <p:cNvSpPr txBox="1"/>
          <p:nvPr/>
        </p:nvSpPr>
        <p:spPr>
          <a:xfrm>
            <a:off x="340500" y="1144611"/>
            <a:ext cx="4545026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--Total Transaction and total Customer per </a:t>
            </a:r>
            <a:r>
              <a:rPr lang="en-US" sz="800" dirty="0">
                <a:solidFill>
                  <a:srgbClr val="B80672"/>
                </a:solidFill>
                <a:latin typeface="Roboto Mono" panose="00000009000000000000" pitchFamily="49" charset="0"/>
              </a:rPr>
              <a:t>year</a:t>
            </a:r>
            <a:r>
              <a:rPr lang="en-US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(Time Frame 2020-2023)</a:t>
            </a:r>
            <a:endParaRPr lang="en-US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SELECT</a:t>
            </a:r>
            <a:endParaRPr lang="en-US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DATE_TRUNC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DATE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date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MONTH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Month_Of_Year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COUNT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DISTINCT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transaction_id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Total_Transaction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COUNT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DISTINCT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customer_name</a:t>
            </a:r>
            <a:r>
              <a:rPr lang="en-US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Total_customers</a:t>
            </a:r>
            <a:endParaRPr lang="en-US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endParaRPr lang="en-US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US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`rakaminkfanalytics-482207.Rakamin_KF_Analytics.kf_final_transaction`</a:t>
            </a:r>
            <a:endParaRPr lang="en-US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GROUP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US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</a:t>
            </a:r>
            <a:endParaRPr lang="en-US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ORDER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US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F545E-23AD-0166-975D-5151F9074470}"/>
              </a:ext>
            </a:extLst>
          </p:cNvPr>
          <p:cNvSpPr txBox="1"/>
          <p:nvPr/>
        </p:nvSpPr>
        <p:spPr>
          <a:xfrm>
            <a:off x="5056608" y="3402817"/>
            <a:ext cx="3881453" cy="707886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D" sz="4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Sheet</a:t>
            </a:r>
            <a:endParaRPr lang="en-ID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84FB8-A2F7-C826-CD03-77DFA0AEA10D}"/>
              </a:ext>
            </a:extLst>
          </p:cNvPr>
          <p:cNvSpPr txBox="1"/>
          <p:nvPr/>
        </p:nvSpPr>
        <p:spPr>
          <a:xfrm>
            <a:off x="5056608" y="4276648"/>
            <a:ext cx="3881454" cy="707886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D" sz="40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Query</a:t>
            </a:r>
            <a:endParaRPr lang="en-ID" sz="4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C3A401-755A-D4C0-7476-40712A39A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09" y="912550"/>
            <a:ext cx="3881453" cy="2383698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2444AA0-2504-E42F-0C97-00A88FD842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2553359"/>
              </p:ext>
            </p:extLst>
          </p:nvPr>
        </p:nvGraphicFramePr>
        <p:xfrm>
          <a:off x="340500" y="2736751"/>
          <a:ext cx="4545026" cy="229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F2EC4B1-344A-10AF-C73F-A3E83237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>
            <a:extLst>
              <a:ext uri="{FF2B5EF4-FFF2-40B4-BE49-F238E27FC236}">
                <a16:creationId xmlns:a16="http://schemas.microsoft.com/office/drawing/2014/main" id="{C2157CAD-3761-DFC4-2DB3-2D861EEB67BD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>
            <a:extLst>
              <a:ext uri="{FF2B5EF4-FFF2-40B4-BE49-F238E27FC236}">
                <a16:creationId xmlns:a16="http://schemas.microsoft.com/office/drawing/2014/main" id="{9B9E7576-81EC-B27D-8CBA-62A8085D78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>
            <a:extLst>
              <a:ext uri="{FF2B5EF4-FFF2-40B4-BE49-F238E27FC236}">
                <a16:creationId xmlns:a16="http://schemas.microsoft.com/office/drawing/2014/main" id="{BE9CEE21-B5C0-BA1F-BE16-CCAA59269F73}"/>
              </a:ext>
            </a:extLst>
          </p:cNvPr>
          <p:cNvSpPr txBox="1"/>
          <p:nvPr/>
        </p:nvSpPr>
        <p:spPr>
          <a:xfrm>
            <a:off x="340500" y="223069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7E7B6-2F05-AE3B-5B74-D05516BE2632}"/>
              </a:ext>
            </a:extLst>
          </p:cNvPr>
          <p:cNvSpPr txBox="1"/>
          <p:nvPr/>
        </p:nvSpPr>
        <p:spPr>
          <a:xfrm>
            <a:off x="562175" y="823370"/>
            <a:ext cx="4135947" cy="16927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--TOP 10 Total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transaksi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dan Nett Sales Cabang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Provinsi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SELECT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provinsi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COUNT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DISTINCT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transaction_id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total_transaksi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ROUND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SUM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nett_sales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total_pendapatan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`rakaminkfanalytics-482207.Rakamin_KF_Analytics.KF_Tabel_Analisis`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GROUP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ORDER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total_transaksi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DESC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10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CB9AF1-FA09-F766-47BD-10CBD4637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477" y="798947"/>
            <a:ext cx="3634348" cy="2830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5F450A-BB5F-62C6-A134-73BFA406F29E}"/>
              </a:ext>
            </a:extLst>
          </p:cNvPr>
          <p:cNvSpPr txBox="1"/>
          <p:nvPr/>
        </p:nvSpPr>
        <p:spPr>
          <a:xfrm>
            <a:off x="4947477" y="3821333"/>
            <a:ext cx="3634348" cy="523220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Query</a:t>
            </a:r>
            <a:endParaRPr lang="en-ID" sz="28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4493B3-FB92-A164-804A-B8C92A1B6E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75" y="2571750"/>
            <a:ext cx="4110267" cy="24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76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CB331B1C-2283-133D-08FB-76588321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>
            <a:extLst>
              <a:ext uri="{FF2B5EF4-FFF2-40B4-BE49-F238E27FC236}">
                <a16:creationId xmlns:a16="http://schemas.microsoft.com/office/drawing/2014/main" id="{A22361E8-908A-B85A-825C-CB6B9E4BAFB3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>
            <a:extLst>
              <a:ext uri="{FF2B5EF4-FFF2-40B4-BE49-F238E27FC236}">
                <a16:creationId xmlns:a16="http://schemas.microsoft.com/office/drawing/2014/main" id="{FF4C6128-9B76-5CD0-C84C-3AB91E4AD2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>
            <a:extLst>
              <a:ext uri="{FF2B5EF4-FFF2-40B4-BE49-F238E27FC236}">
                <a16:creationId xmlns:a16="http://schemas.microsoft.com/office/drawing/2014/main" id="{54261120-B692-B09E-78C6-E6A27A73BFA0}"/>
              </a:ext>
            </a:extLst>
          </p:cNvPr>
          <p:cNvSpPr txBox="1"/>
          <p:nvPr/>
        </p:nvSpPr>
        <p:spPr>
          <a:xfrm>
            <a:off x="340500" y="223069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8B038D-EAE2-781D-9A53-F67A1C00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97777" y="2959641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16F3856-C7A8-9D72-C0AE-F36273BBC334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424A1C8-5F3A-7BB4-B4AF-2C4BA63343EB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BDA2FB7-3463-B091-0333-B5A4A64A4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900163" y="3429000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FF21C8A7-2693-BFA6-8FCB-5822A58347C8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63DE5BA0-6CFD-E019-087A-C28A70BF103A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7867514-C743-140C-1020-A86A04BF560D}"/>
              </a:ext>
            </a:extLst>
          </p:cNvPr>
          <p:cNvSpPr txBox="1"/>
          <p:nvPr/>
        </p:nvSpPr>
        <p:spPr>
          <a:xfrm>
            <a:off x="234508" y="951565"/>
            <a:ext cx="4848944" cy="32932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--Top 5 Cabang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Dengan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Rating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Tertinggi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namun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Rating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Transaksi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Terendah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WITH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base_table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SELECT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t.branch_id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c.provinsi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c.rating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rating_cabang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t.rating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rating_transaksi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`rakaminkfanalytics-482207.Rakamin_KF_Analytics.kf_final_transaction`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LEFT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JOIN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`rakaminkfanalytics-482207.Rakamin_KF_Analytics.kf_kantor_cabang`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ON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t.branch_id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c.branch_id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SELECT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provinsi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AVG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rating_cabang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max_rating_cabang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AVG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rating_transaksi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min_rating_transaksi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base_table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GROUP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1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ORDER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max_rating_cabang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DESC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min_rating_transaksi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ASC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10C323-38DF-48D2-81C6-A8796257D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705" y="949860"/>
            <a:ext cx="3826042" cy="15623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FFA9D6-32D4-648F-C7C1-0C0234873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705" y="2638668"/>
            <a:ext cx="3826042" cy="23192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9BFE61-4331-A56C-B1DF-045E36434FFC}"/>
              </a:ext>
            </a:extLst>
          </p:cNvPr>
          <p:cNvSpPr txBox="1"/>
          <p:nvPr/>
        </p:nvSpPr>
        <p:spPr>
          <a:xfrm>
            <a:off x="244262" y="4367718"/>
            <a:ext cx="4848945" cy="584775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r>
              <a:rPr lang="en-ID" sz="32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Query</a:t>
            </a:r>
            <a:endParaRPr lang="en-ID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9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5EE9E92-35B7-4EE1-4A0B-FCED9088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>
            <a:extLst>
              <a:ext uri="{FF2B5EF4-FFF2-40B4-BE49-F238E27FC236}">
                <a16:creationId xmlns:a16="http://schemas.microsoft.com/office/drawing/2014/main" id="{1171BE72-032C-D7C4-F87C-0D4AF4C245B3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>
            <a:extLst>
              <a:ext uri="{FF2B5EF4-FFF2-40B4-BE49-F238E27FC236}">
                <a16:creationId xmlns:a16="http://schemas.microsoft.com/office/drawing/2014/main" id="{2A1601F1-23A0-D2A9-F43B-FF5A4DFB18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>
            <a:extLst>
              <a:ext uri="{FF2B5EF4-FFF2-40B4-BE49-F238E27FC236}">
                <a16:creationId xmlns:a16="http://schemas.microsoft.com/office/drawing/2014/main" id="{6C03A721-D446-1206-3CDB-E7631EF7496F}"/>
              </a:ext>
            </a:extLst>
          </p:cNvPr>
          <p:cNvSpPr txBox="1"/>
          <p:nvPr/>
        </p:nvSpPr>
        <p:spPr>
          <a:xfrm>
            <a:off x="340500" y="223069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52F21A-E181-4A65-EEB5-32C7F6B66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97777" y="2959641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745365-6E36-2869-4F7C-AB999C030050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F96752-8936-6306-0761-79AA7A0B427C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B440375-5725-1A88-9680-796CDE58A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900163" y="3429000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6BA07268-EB33-AEBB-84B0-E9F9CBCFC5F9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89ABDF90-E41A-4A8F-4F2F-AF3F8991304B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B8BF41-2A86-F369-D26A-24DD4E75C927}"/>
              </a:ext>
            </a:extLst>
          </p:cNvPr>
          <p:cNvSpPr txBox="1"/>
          <p:nvPr/>
        </p:nvSpPr>
        <p:spPr>
          <a:xfrm>
            <a:off x="340500" y="889320"/>
            <a:ext cx="4496195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--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Perbandingan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Pendapatan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Kimia Farma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dari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tahun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ke</a:t>
            </a:r>
            <a:r>
              <a:rPr lang="en-ID" sz="800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tahun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SELECT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EXTRACT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YEAR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DATE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date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year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ROUND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SUM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nett_sales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ID" sz="800" b="0" dirty="0">
                <a:solidFill>
                  <a:srgbClr val="B06000"/>
                </a:solidFill>
                <a:effectLst/>
                <a:latin typeface="Roboto Mono" panose="00000009000000000000" pitchFamily="49" charset="0"/>
              </a:rPr>
              <a:t>2</a:t>
            </a:r>
            <a:r>
              <a:rPr lang="en-ID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total_revenue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FROM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`rakaminkfanalytics-482207.Rakamin_KF_Analytics.KF_Tabel_Analisis`</a:t>
            </a:r>
            <a:endParaRPr lang="en-ID" sz="800" b="0" dirty="0">
              <a:solidFill>
                <a:srgbClr val="202124"/>
              </a:solidFill>
              <a:effectLst/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GROUP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year</a:t>
            </a:r>
            <a:endParaRPr lang="en-ID" sz="800" dirty="0">
              <a:solidFill>
                <a:srgbClr val="202124"/>
              </a:solidFill>
              <a:latin typeface="Roboto Mono" panose="00000009000000000000" pitchFamily="49" charset="0"/>
            </a:endParaRPr>
          </a:p>
          <a:p>
            <a:pPr>
              <a:buNone/>
            </a:pP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ORDER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ID" sz="800" b="0" dirty="0">
                <a:solidFill>
                  <a:srgbClr val="1967D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buNone/>
            </a:pP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en-ID" sz="8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year</a:t>
            </a:r>
            <a:r>
              <a:rPr lang="en-ID" sz="800" b="0" dirty="0">
                <a:solidFill>
                  <a:srgbClr val="202124"/>
                </a:solidFill>
                <a:effectLst/>
                <a:latin typeface="Roboto Mono" panose="00000009000000000000" pitchFamily="49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25EB5-0ED7-514B-A8F7-486921F5F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23" y="2305601"/>
            <a:ext cx="4496195" cy="19485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502B44-76E7-DD6A-4A52-3A388C011B42}"/>
              </a:ext>
            </a:extLst>
          </p:cNvPr>
          <p:cNvSpPr txBox="1"/>
          <p:nvPr/>
        </p:nvSpPr>
        <p:spPr>
          <a:xfrm>
            <a:off x="5221545" y="3500891"/>
            <a:ext cx="3307887" cy="584775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32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Query</a:t>
            </a:r>
            <a:endParaRPr lang="en-ID" sz="32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5F9E60-668A-A568-09CA-E701742AA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1441" y="949994"/>
            <a:ext cx="3307887" cy="207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426498" y="12662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-ID" sz="2700" b="1" dirty="0"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lang="en-ID"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5259B-CCBD-841D-2BDB-E8650F80E4E7}"/>
              </a:ext>
            </a:extLst>
          </p:cNvPr>
          <p:cNvSpPr txBox="1"/>
          <p:nvPr/>
        </p:nvSpPr>
        <p:spPr>
          <a:xfrm>
            <a:off x="7014411" y="4003768"/>
            <a:ext cx="1989520" cy="954107"/>
          </a:xfrm>
          <a:prstGeom prst="rect">
            <a:avLst/>
          </a:prstGeom>
          <a:gradFill>
            <a:gsLst>
              <a:gs pos="0">
                <a:schemeClr val="accent5">
                  <a:lumMod val="42000"/>
                  <a:lumOff val="58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</a:gradFill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</a:t>
            </a:r>
            <a:r>
              <a:rPr lang="en-ID" sz="2800" dirty="0" err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Dasboard</a:t>
            </a:r>
            <a:endParaRPr lang="en-ID" sz="2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924A5E-A803-7A9C-2A0C-9CC902376F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45"/>
          <a:stretch>
            <a:fillRect/>
          </a:stretch>
        </p:blipFill>
        <p:spPr>
          <a:xfrm>
            <a:off x="631457" y="686465"/>
            <a:ext cx="6242884" cy="44245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3997C22-2B96-50BF-3B58-A0CFEC64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>
            <a:extLst>
              <a:ext uri="{FF2B5EF4-FFF2-40B4-BE49-F238E27FC236}">
                <a16:creationId xmlns:a16="http://schemas.microsoft.com/office/drawing/2014/main" id="{8252AA0F-0959-DA29-6867-395FF86FC5E4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>
            <a:extLst>
              <a:ext uri="{FF2B5EF4-FFF2-40B4-BE49-F238E27FC236}">
                <a16:creationId xmlns:a16="http://schemas.microsoft.com/office/drawing/2014/main" id="{1B409B1C-3534-46F8-F503-3139E6BDBC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>
            <a:extLst>
              <a:ext uri="{FF2B5EF4-FFF2-40B4-BE49-F238E27FC236}">
                <a16:creationId xmlns:a16="http://schemas.microsoft.com/office/drawing/2014/main" id="{0313D148-9B83-E117-F247-D94B5597947B}"/>
              </a:ext>
            </a:extLst>
          </p:cNvPr>
          <p:cNvSpPr txBox="1"/>
          <p:nvPr/>
        </p:nvSpPr>
        <p:spPr>
          <a:xfrm>
            <a:off x="340500" y="223069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5. Insight &amp;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Analisis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5917EF-2453-4A98-94DB-F3B9CC341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97777" y="2959641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3B07324-C07B-6E5E-24D9-0E2B5A96C101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F97701A-2F43-2CDC-414E-F4E059B5754D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BF18691-A95D-6859-6FB8-62FCDCD08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900163" y="3429000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3D646687-7CB9-C740-5625-8B1A0708B8B8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05BADF91-3A59-C17F-2D88-4CDD21C4B167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75BB4AD-FE82-DE86-BF1D-E7DF2EDF5474}"/>
              </a:ext>
            </a:extLst>
          </p:cNvPr>
          <p:cNvSpPr txBox="1"/>
          <p:nvPr/>
        </p:nvSpPr>
        <p:spPr>
          <a:xfrm>
            <a:off x="340500" y="860813"/>
            <a:ext cx="8377002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Terdapat</a:t>
            </a:r>
            <a:r>
              <a:rPr lang="en-ID" sz="1200" dirty="0"/>
              <a:t> </a:t>
            </a:r>
            <a:r>
              <a:rPr lang="en-ID" sz="1200" b="1" dirty="0"/>
              <a:t>1.725</a:t>
            </a:r>
            <a:r>
              <a:rPr lang="en-ID" sz="1200" dirty="0"/>
              <a:t> </a:t>
            </a:r>
            <a:r>
              <a:rPr lang="en-ID" sz="1200" dirty="0" err="1"/>
              <a:t>cabang</a:t>
            </a:r>
            <a:r>
              <a:rPr lang="en-ID" sz="1200" dirty="0"/>
              <a:t> yang </a:t>
            </a:r>
            <a:r>
              <a:rPr lang="en-ID" sz="1200" dirty="0" err="1"/>
              <a:t>tersebar</a:t>
            </a:r>
            <a:r>
              <a:rPr lang="en-ID" sz="1200" dirty="0"/>
              <a:t> di </a:t>
            </a:r>
            <a:r>
              <a:rPr lang="en-ID" sz="1200" dirty="0" err="1"/>
              <a:t>seluruh</a:t>
            </a:r>
            <a:r>
              <a:rPr lang="en-ID" sz="1200" dirty="0"/>
              <a:t> Kota di Indonesia. </a:t>
            </a:r>
            <a:r>
              <a:rPr lang="en-ID" sz="1200" dirty="0" err="1"/>
              <a:t>Dengan</a:t>
            </a:r>
            <a:r>
              <a:rPr lang="en-ID" sz="1200" dirty="0"/>
              <a:t> Total </a:t>
            </a:r>
            <a:r>
              <a:rPr lang="en-ID" sz="1200" dirty="0" err="1"/>
              <a:t>Transaksi</a:t>
            </a:r>
            <a:r>
              <a:rPr lang="en-ID" sz="1200" dirty="0"/>
              <a:t> </a:t>
            </a:r>
            <a:r>
              <a:rPr lang="en-ID" sz="1200" dirty="0" err="1"/>
              <a:t>sebanyak</a:t>
            </a:r>
            <a:r>
              <a:rPr lang="en-ID" sz="1200" dirty="0"/>
              <a:t> </a:t>
            </a:r>
            <a:r>
              <a:rPr lang="en-ID" sz="1200" b="1" dirty="0"/>
              <a:t>672.458</a:t>
            </a:r>
            <a:r>
              <a:rPr lang="en-ID" sz="1200" dirty="0"/>
              <a:t> Total </a:t>
            </a:r>
            <a:r>
              <a:rPr lang="en-ID" sz="1200" dirty="0" err="1"/>
              <a:t>Transaksi</a:t>
            </a:r>
            <a:r>
              <a:rPr lang="en-ID" sz="1200" dirty="0"/>
              <a:t>, </a:t>
            </a:r>
            <a:r>
              <a:rPr lang="en-ID" sz="1200" b="1" dirty="0"/>
              <a:t>264.601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 dan </a:t>
            </a:r>
            <a:r>
              <a:rPr lang="en-ID" sz="1200" dirty="0" err="1"/>
              <a:t>pendapatan</a:t>
            </a:r>
            <a:r>
              <a:rPr lang="en-ID" sz="1200" dirty="0"/>
              <a:t> </a:t>
            </a:r>
            <a:r>
              <a:rPr lang="en-ID" sz="1200" dirty="0" err="1"/>
              <a:t>bersih</a:t>
            </a:r>
            <a:r>
              <a:rPr lang="en-ID" sz="1200" dirty="0"/>
              <a:t> </a:t>
            </a:r>
            <a:r>
              <a:rPr lang="en-ID" sz="1200" dirty="0" err="1"/>
              <a:t>sebesar</a:t>
            </a:r>
            <a:r>
              <a:rPr lang="en-ID" sz="1200" dirty="0"/>
              <a:t> </a:t>
            </a:r>
            <a:r>
              <a:rPr lang="en-ID" sz="1200" b="1" dirty="0"/>
              <a:t>91.4M</a:t>
            </a:r>
            <a:r>
              <a:rPr lang="en-ID" sz="1200" dirty="0"/>
              <a:t> </a:t>
            </a:r>
            <a:r>
              <a:rPr lang="en-ID" sz="1200" dirty="0" err="1"/>
              <a:t>selama</a:t>
            </a:r>
            <a:r>
              <a:rPr lang="en-ID" sz="1200" dirty="0"/>
              <a:t> 2020 </a:t>
            </a:r>
            <a:r>
              <a:rPr lang="en-ID" sz="1200" dirty="0" err="1"/>
              <a:t>hingga</a:t>
            </a:r>
            <a:r>
              <a:rPr lang="en-ID" sz="1200" dirty="0"/>
              <a:t> 2023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Dilihat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Analisa yang </a:t>
            </a:r>
            <a:r>
              <a:rPr lang="en-ID" sz="1200" dirty="0" err="1"/>
              <a:t>dilakukan</a:t>
            </a:r>
            <a:r>
              <a:rPr lang="en-ID" sz="1200" dirty="0"/>
              <a:t> </a:t>
            </a:r>
            <a:r>
              <a:rPr lang="en-ID" sz="1200" dirty="0" err="1"/>
              <a:t>pendapatan</a:t>
            </a:r>
            <a:r>
              <a:rPr lang="en-ID" sz="1200" dirty="0"/>
              <a:t> Kimia Farma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stabilitas</a:t>
            </a:r>
            <a:r>
              <a:rPr lang="en-ID" sz="1200" dirty="0"/>
              <a:t> yang sangat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pendapatan</a:t>
            </a:r>
            <a:r>
              <a:rPr lang="en-ID" sz="1200" dirty="0"/>
              <a:t> </a:t>
            </a:r>
            <a:r>
              <a:rPr lang="en-ID" sz="1200" dirty="0" err="1"/>
              <a:t>bersih</a:t>
            </a:r>
            <a:r>
              <a:rPr lang="en-ID" sz="1200" dirty="0"/>
              <a:t> (</a:t>
            </a:r>
            <a:r>
              <a:rPr lang="en-ID" sz="1200" i="1" dirty="0"/>
              <a:t>nett sales</a:t>
            </a:r>
            <a:r>
              <a:rPr lang="en-ID" sz="1200" dirty="0"/>
              <a:t>) </a:t>
            </a:r>
            <a:r>
              <a:rPr lang="en-ID" sz="1200" dirty="0" err="1"/>
              <a:t>konsisten</a:t>
            </a:r>
            <a:r>
              <a:rPr lang="en-ID" sz="1200" dirty="0"/>
              <a:t> di </a:t>
            </a:r>
            <a:r>
              <a:rPr lang="en-ID" sz="1200" dirty="0" err="1"/>
              <a:t>angka</a:t>
            </a:r>
            <a:r>
              <a:rPr lang="en-ID" sz="1200" dirty="0"/>
              <a:t> </a:t>
            </a:r>
            <a:r>
              <a:rPr lang="en-ID" sz="1200" b="1" dirty="0"/>
              <a:t>Rp80 </a:t>
            </a:r>
            <a:r>
              <a:rPr lang="en-ID" sz="1200" b="1" dirty="0" err="1"/>
              <a:t>Miliar</a:t>
            </a:r>
            <a:r>
              <a:rPr lang="en-ID" sz="1200" b="1" dirty="0"/>
              <a:t> per </a:t>
            </a:r>
            <a:r>
              <a:rPr lang="en-ID" sz="1200" b="1" dirty="0" err="1"/>
              <a:t>tahun</a:t>
            </a:r>
            <a:r>
              <a:rPr lang="en-ID" sz="1200" dirty="0"/>
              <a:t>.</a:t>
            </a:r>
          </a:p>
          <a:p>
            <a:pPr marL="236538" indent="-236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200" dirty="0"/>
              <a:t>Provinsi Jawa Barat merupakan kontributor terbesar baik dari sisi volume transaksi (</a:t>
            </a:r>
            <a:r>
              <a:rPr lang="it-IT" sz="1200" b="1" dirty="0"/>
              <a:t>198,7 ribu</a:t>
            </a:r>
            <a:r>
              <a:rPr lang="it-IT" sz="1200" dirty="0"/>
              <a:t>) maupun pendapatan bersih (</a:t>
            </a:r>
            <a:r>
              <a:rPr lang="it-IT" sz="1200" b="1" dirty="0"/>
              <a:t>Rp94,9 Miliar</a:t>
            </a:r>
            <a:r>
              <a:rPr lang="it-IT" sz="1200" dirty="0"/>
              <a:t>).</a:t>
            </a:r>
          </a:p>
          <a:p>
            <a:pPr marL="236538" indent="-236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Urutan</a:t>
            </a:r>
            <a:r>
              <a:rPr lang="en-ID" sz="1200" dirty="0"/>
              <a:t> Total </a:t>
            </a:r>
            <a:r>
              <a:rPr lang="en-ID" sz="1200" dirty="0" err="1"/>
              <a:t>Transaksi</a:t>
            </a:r>
            <a:r>
              <a:rPr lang="en-ID" sz="1200" dirty="0"/>
              <a:t> dan Nett Sales Cabang </a:t>
            </a:r>
            <a:r>
              <a:rPr lang="en-ID" sz="1200" dirty="0" err="1"/>
              <a:t>Provinsi</a:t>
            </a:r>
            <a:r>
              <a:rPr lang="en-ID" sz="1200" dirty="0"/>
              <a:t> </a:t>
            </a:r>
            <a:r>
              <a:rPr lang="en-ID" sz="1200" dirty="0" err="1"/>
              <a:t>hampir</a:t>
            </a:r>
            <a:r>
              <a:rPr lang="en-ID" sz="1200" dirty="0"/>
              <a:t> </a:t>
            </a:r>
            <a:r>
              <a:rPr lang="en-ID" sz="1200" dirty="0" err="1"/>
              <a:t>sama</a:t>
            </a:r>
            <a:r>
              <a:rPr lang="en-ID" sz="1200" dirty="0"/>
              <a:t>. </a:t>
            </a:r>
            <a:r>
              <a:rPr lang="en-ID" sz="1200" dirty="0" err="1"/>
              <a:t>Dilihat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Top 10 </a:t>
            </a:r>
            <a:r>
              <a:rPr lang="en-ID" sz="1200" dirty="0" err="1"/>
              <a:t>Transaksi</a:t>
            </a:r>
            <a:r>
              <a:rPr lang="en-ID" sz="1200" dirty="0"/>
              <a:t> dan Nett Sales yang </a:t>
            </a:r>
            <a:r>
              <a:rPr lang="en-ID" sz="1200" dirty="0" err="1"/>
              <a:t>ada</a:t>
            </a:r>
            <a:r>
              <a:rPr lang="en-ID" sz="1200" dirty="0"/>
              <a:t>, </a:t>
            </a:r>
            <a:r>
              <a:rPr lang="en-ID" sz="1200" dirty="0" err="1"/>
              <a:t>diketahui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tersebar</a:t>
            </a:r>
            <a:r>
              <a:rPr lang="en-ID" sz="1200" dirty="0"/>
              <a:t> </a:t>
            </a:r>
            <a:r>
              <a:rPr lang="en-ID" sz="1200" dirty="0" err="1"/>
              <a:t>diseluruh</a:t>
            </a:r>
            <a:r>
              <a:rPr lang="en-ID" sz="1200" dirty="0"/>
              <a:t> Indonesia, </a:t>
            </a:r>
            <a:r>
              <a:rPr lang="en-ID" sz="1200" dirty="0" err="1"/>
              <a:t>bukan</a:t>
            </a:r>
            <a:r>
              <a:rPr lang="en-ID" sz="1200" dirty="0"/>
              <a:t> </a:t>
            </a:r>
            <a:r>
              <a:rPr lang="en-ID" sz="1200" dirty="0" err="1"/>
              <a:t>hanya</a:t>
            </a:r>
            <a:r>
              <a:rPr lang="en-ID" sz="1200" dirty="0"/>
              <a:t> </a:t>
            </a:r>
            <a:r>
              <a:rPr lang="en-ID" sz="1200" dirty="0" err="1"/>
              <a:t>terpusat</a:t>
            </a:r>
            <a:r>
              <a:rPr lang="en-ID" sz="1200" dirty="0"/>
              <a:t> di </a:t>
            </a:r>
            <a:r>
              <a:rPr lang="en-ID" sz="1200" dirty="0" err="1"/>
              <a:t>satu</a:t>
            </a:r>
            <a:r>
              <a:rPr lang="en-ID" sz="1200" dirty="0"/>
              <a:t> </a:t>
            </a:r>
            <a:r>
              <a:rPr lang="en-ID" sz="1200" dirty="0" err="1"/>
              <a:t>pulau</a:t>
            </a:r>
            <a:r>
              <a:rPr lang="en-ID" sz="1200" dirty="0"/>
              <a:t>.</a:t>
            </a:r>
          </a:p>
          <a:p>
            <a:pPr marL="236538" indent="-236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obat-obatan</a:t>
            </a:r>
            <a:r>
              <a:rPr lang="en-ID" sz="1200" dirty="0"/>
              <a:t> </a:t>
            </a:r>
            <a:r>
              <a:rPr lang="en-ID" sz="1200" b="1" i="1" dirty="0" err="1"/>
              <a:t>Psycholeptics</a:t>
            </a:r>
            <a:r>
              <a:rPr lang="en-ID" sz="1200" b="1" i="1" dirty="0"/>
              <a:t> drugs (Hypnotics &amp; Anxiolytics)</a:t>
            </a:r>
            <a:r>
              <a:rPr lang="en-ID" sz="1200" b="1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kontributor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tertinggi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total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b="1" dirty="0"/>
              <a:t>134rb item, </a:t>
            </a:r>
            <a:r>
              <a:rPr lang="en-ID" sz="1200" dirty="0"/>
              <a:t>total profit </a:t>
            </a:r>
            <a:r>
              <a:rPr lang="en-ID" sz="1200" dirty="0" err="1"/>
              <a:t>mencapai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b="1" dirty="0"/>
              <a:t>15 M </a:t>
            </a:r>
            <a:r>
              <a:rPr lang="en-ID" sz="1200" dirty="0"/>
              <a:t>dan </a:t>
            </a:r>
            <a:r>
              <a:rPr lang="en-ID" sz="1200" b="1" dirty="0"/>
              <a:t>rata </a:t>
            </a:r>
            <a:r>
              <a:rPr lang="en-ID" sz="1200" dirty="0" err="1"/>
              <a:t>rata</a:t>
            </a:r>
            <a:r>
              <a:rPr lang="en-ID" sz="1200" dirty="0"/>
              <a:t> profit per item </a:t>
            </a:r>
            <a:r>
              <a:rPr lang="en-ID" sz="1200" b="1" dirty="0"/>
              <a:t>114 </a:t>
            </a:r>
            <a:r>
              <a:rPr lang="en-ID" sz="1200" b="1" dirty="0" err="1"/>
              <a:t>rb</a:t>
            </a:r>
            <a:r>
              <a:rPr lang="en-ID" sz="1200" b="1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persentase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sebesar</a:t>
            </a:r>
            <a:r>
              <a:rPr lang="en-ID" sz="1200" dirty="0"/>
              <a:t> </a:t>
            </a:r>
            <a:r>
              <a:rPr lang="en-ID" sz="1200" b="1" dirty="0"/>
              <a:t>20,1%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seluruh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yang </a:t>
            </a:r>
            <a:r>
              <a:rPr lang="en-ID" sz="1200" dirty="0" err="1"/>
              <a:t>ada</a:t>
            </a:r>
            <a:r>
              <a:rPr lang="en-ID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2423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00906B7-3CD1-C468-3E27-88C2DDFA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>
            <a:extLst>
              <a:ext uri="{FF2B5EF4-FFF2-40B4-BE49-F238E27FC236}">
                <a16:creationId xmlns:a16="http://schemas.microsoft.com/office/drawing/2014/main" id="{8B1D32C7-2A46-58D0-88E9-5177BBDF366A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>
            <a:extLst>
              <a:ext uri="{FF2B5EF4-FFF2-40B4-BE49-F238E27FC236}">
                <a16:creationId xmlns:a16="http://schemas.microsoft.com/office/drawing/2014/main" id="{FBD6144F-E6B0-1B88-50A8-06C04DA755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>
            <a:extLst>
              <a:ext uri="{FF2B5EF4-FFF2-40B4-BE49-F238E27FC236}">
                <a16:creationId xmlns:a16="http://schemas.microsoft.com/office/drawing/2014/main" id="{4F2EC1C8-4405-9717-D86A-55C22DB0D2B6}"/>
              </a:ext>
            </a:extLst>
          </p:cNvPr>
          <p:cNvSpPr txBox="1"/>
          <p:nvPr/>
        </p:nvSpPr>
        <p:spPr>
          <a:xfrm>
            <a:off x="340500" y="385733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6. Strategi &amp; </a:t>
            </a:r>
            <a:r>
              <a:rPr lang="en-US" sz="2700" b="1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Rekomendasi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23FA8F-600B-C5FE-F21F-4FDF3ABC5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97777" y="2959641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D8181E-A127-9DEB-BACD-ABF70A735A29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B9DF0F4-B107-5788-63AD-3648E682367A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FDE025B-BC45-D1C9-1C92-129A7C9DF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900163" y="3429000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1EE255A0-0EAD-1F11-1D2C-A8A30F023FA5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9E1E6695-8149-09DA-6611-D21CA998D961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18710F0-15D4-B496-B69D-7557794BF2F2}"/>
              </a:ext>
            </a:extLst>
          </p:cNvPr>
          <p:cNvSpPr txBox="1"/>
          <p:nvPr/>
        </p:nvSpPr>
        <p:spPr>
          <a:xfrm>
            <a:off x="411956" y="1245141"/>
            <a:ext cx="8305546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Dengan</a:t>
            </a:r>
            <a:r>
              <a:rPr lang="en-ID" sz="1200" dirty="0"/>
              <a:t> total 264.601 </a:t>
            </a:r>
            <a:r>
              <a:rPr lang="en-ID" sz="1200" dirty="0" err="1"/>
              <a:t>pelanggan</a:t>
            </a:r>
            <a:r>
              <a:rPr lang="en-ID" sz="1200" dirty="0"/>
              <a:t> dan 672.458 </a:t>
            </a:r>
            <a:r>
              <a:rPr lang="en-ID" sz="1200" dirty="0" err="1"/>
              <a:t>transaksi</a:t>
            </a:r>
            <a:r>
              <a:rPr lang="en-ID" sz="1200" dirty="0"/>
              <a:t> (rata-rata ~2,5 </a:t>
            </a:r>
            <a:r>
              <a:rPr lang="en-ID" sz="1200" dirty="0" err="1"/>
              <a:t>transaksi</a:t>
            </a:r>
            <a:r>
              <a:rPr lang="en-ID" sz="1200" dirty="0"/>
              <a:t> per </a:t>
            </a:r>
            <a:r>
              <a:rPr lang="en-ID" sz="1200" dirty="0" err="1"/>
              <a:t>pelanggan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3 </a:t>
            </a:r>
            <a:r>
              <a:rPr lang="en-ID" sz="1200" dirty="0" err="1"/>
              <a:t>tahun</a:t>
            </a:r>
            <a:r>
              <a:rPr lang="en-ID" sz="1200" dirty="0"/>
              <a:t>),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bisa</a:t>
            </a:r>
            <a:r>
              <a:rPr lang="en-ID" sz="1200" dirty="0"/>
              <a:t> </a:t>
            </a:r>
            <a:r>
              <a:rPr lang="en-ID" sz="1200" dirty="0" err="1"/>
              <a:t>mendorong</a:t>
            </a:r>
            <a:r>
              <a:rPr lang="en-ID" sz="1200" dirty="0"/>
              <a:t> </a:t>
            </a:r>
            <a:r>
              <a:rPr lang="en-ID" sz="1200" dirty="0" err="1"/>
              <a:t>frekuensi</a:t>
            </a:r>
            <a:r>
              <a:rPr lang="en-ID" sz="1200" dirty="0"/>
              <a:t> </a:t>
            </a:r>
            <a:r>
              <a:rPr lang="en-ID" sz="1200" dirty="0" err="1"/>
              <a:t>kunjungan</a:t>
            </a:r>
            <a:r>
              <a:rPr lang="en-ID" sz="1200" dirty="0"/>
              <a:t> </a:t>
            </a:r>
            <a:r>
              <a:rPr lang="en-ID" sz="1200" dirty="0" err="1"/>
              <a:t>melalui</a:t>
            </a:r>
            <a:r>
              <a:rPr lang="en-ID" sz="1200" dirty="0"/>
              <a:t> promo rutin </a:t>
            </a:r>
            <a:r>
              <a:rPr lang="en-ID" sz="1200" dirty="0" err="1"/>
              <a:t>bulanan</a:t>
            </a:r>
            <a:r>
              <a:rPr lang="en-ID" sz="1200" dirty="0"/>
              <a:t>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layanan</a:t>
            </a:r>
            <a:r>
              <a:rPr lang="en-ID" sz="1200" dirty="0"/>
              <a:t> </a:t>
            </a:r>
            <a:r>
              <a:rPr lang="en-ID" sz="1200" dirty="0" err="1"/>
              <a:t>cek</a:t>
            </a:r>
            <a:r>
              <a:rPr lang="en-ID" sz="1200" dirty="0"/>
              <a:t> </a:t>
            </a:r>
            <a:r>
              <a:rPr lang="en-ID" sz="1200" dirty="0" err="1"/>
              <a:t>kesehatan</a:t>
            </a:r>
            <a:r>
              <a:rPr lang="en-ID" sz="1200" dirty="0"/>
              <a:t> gratis.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Identifikasi</a:t>
            </a:r>
            <a:r>
              <a:rPr lang="en-ID" sz="1200" dirty="0"/>
              <a:t> </a:t>
            </a:r>
            <a:r>
              <a:rPr lang="en-ID" sz="1200" dirty="0" err="1"/>
              <a:t>cabang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total 1.725 </a:t>
            </a:r>
            <a:r>
              <a:rPr lang="en-ID" sz="1200" dirty="0" err="1"/>
              <a:t>cabang</a:t>
            </a:r>
            <a:r>
              <a:rPr lang="en-ID" sz="1200" dirty="0"/>
              <a:t> yang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di </a:t>
            </a:r>
            <a:r>
              <a:rPr lang="en-ID" sz="1200" dirty="0" err="1"/>
              <a:t>bawah</a:t>
            </a:r>
            <a:r>
              <a:rPr lang="en-ID" sz="1200" dirty="0"/>
              <a:t> rata-rata. </a:t>
            </a:r>
            <a:r>
              <a:rPr lang="en-ID" sz="1200" dirty="0" err="1"/>
              <a:t>Lakukan</a:t>
            </a:r>
            <a:r>
              <a:rPr lang="en-ID" sz="1200" dirty="0"/>
              <a:t> </a:t>
            </a:r>
            <a:r>
              <a:rPr lang="en-ID" sz="1200" dirty="0" err="1"/>
              <a:t>evaluasi</a:t>
            </a:r>
            <a:r>
              <a:rPr lang="en-ID" sz="1200" dirty="0"/>
              <a:t> </a:t>
            </a:r>
            <a:r>
              <a:rPr lang="en-ID" sz="1200" dirty="0" err="1"/>
              <a:t>apakah</a:t>
            </a:r>
            <a:r>
              <a:rPr lang="en-ID" sz="1200" dirty="0"/>
              <a:t> </a:t>
            </a:r>
            <a:r>
              <a:rPr lang="en-ID" sz="1200" dirty="0" err="1"/>
              <a:t>perlu</a:t>
            </a:r>
            <a:r>
              <a:rPr lang="en-ID" sz="1200" dirty="0"/>
              <a:t> </a:t>
            </a:r>
            <a:r>
              <a:rPr lang="en-ID" sz="1200" dirty="0" err="1"/>
              <a:t>dilakukan</a:t>
            </a:r>
            <a:r>
              <a:rPr lang="en-ID" sz="1200" dirty="0"/>
              <a:t> </a:t>
            </a:r>
            <a:r>
              <a:rPr lang="en-ID" sz="1200" dirty="0" err="1"/>
              <a:t>relokasi</a:t>
            </a:r>
            <a:r>
              <a:rPr lang="en-ID" sz="1200" dirty="0"/>
              <a:t>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perubahan</a:t>
            </a:r>
            <a:r>
              <a:rPr lang="en-ID" sz="1200" dirty="0"/>
              <a:t> strategi </a:t>
            </a:r>
            <a:r>
              <a:rPr lang="en-ID" sz="1200" dirty="0" err="1"/>
              <a:t>pemasaran</a:t>
            </a:r>
            <a:r>
              <a:rPr lang="en-ID" sz="1200" dirty="0"/>
              <a:t> </a:t>
            </a:r>
            <a:r>
              <a:rPr lang="en-ID" sz="1200" dirty="0" err="1"/>
              <a:t>lokal</a:t>
            </a:r>
            <a:r>
              <a:rPr lang="en-ID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Tingkatkan</a:t>
            </a:r>
            <a:r>
              <a:rPr lang="en-ID" sz="1200" dirty="0"/>
              <a:t> </a:t>
            </a:r>
            <a:r>
              <a:rPr lang="en-ID" sz="1200" dirty="0" err="1"/>
              <a:t>efisiensi</a:t>
            </a:r>
            <a:r>
              <a:rPr lang="en-ID" sz="1200" dirty="0"/>
              <a:t> </a:t>
            </a:r>
            <a:r>
              <a:rPr lang="en-ID" sz="1200" dirty="0" err="1"/>
              <a:t>rantai</a:t>
            </a:r>
            <a:r>
              <a:rPr lang="en-ID" sz="1200" dirty="0"/>
              <a:t> </a:t>
            </a:r>
            <a:r>
              <a:rPr lang="en-ID" sz="1200" dirty="0" err="1"/>
              <a:t>pasok</a:t>
            </a:r>
            <a:r>
              <a:rPr lang="en-ID" sz="1200" dirty="0"/>
              <a:t> (</a:t>
            </a:r>
            <a:r>
              <a:rPr lang="en-ID" sz="1200" i="1" dirty="0"/>
              <a:t>supply chain</a:t>
            </a:r>
            <a:r>
              <a:rPr lang="en-ID" sz="1200" dirty="0"/>
              <a:t>)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cabang-cabang</a:t>
            </a:r>
            <a:r>
              <a:rPr lang="en-ID" sz="1200" dirty="0"/>
              <a:t> di </a:t>
            </a:r>
            <a:r>
              <a:rPr lang="en-ID" sz="1200" dirty="0" err="1"/>
              <a:t>luar</a:t>
            </a:r>
            <a:r>
              <a:rPr lang="en-ID" sz="1200" dirty="0"/>
              <a:t> Pulau Jawa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menekan</a:t>
            </a:r>
            <a:r>
              <a:rPr lang="en-ID" sz="1200" dirty="0"/>
              <a:t> </a:t>
            </a:r>
            <a:r>
              <a:rPr lang="en-ID" sz="1200" dirty="0" err="1"/>
              <a:t>biaya</a:t>
            </a:r>
            <a:r>
              <a:rPr lang="en-ID" sz="1200" dirty="0"/>
              <a:t> </a:t>
            </a:r>
            <a:r>
              <a:rPr lang="en-ID" sz="1200" dirty="0" err="1"/>
              <a:t>logistik</a:t>
            </a:r>
            <a:r>
              <a:rPr lang="en-ID" sz="1200" dirty="0"/>
              <a:t>, </a:t>
            </a:r>
            <a:r>
              <a:rPr lang="en-ID" sz="1200" dirty="0" err="1"/>
              <a:t>sehingga</a:t>
            </a:r>
            <a:r>
              <a:rPr lang="en-ID" sz="1200" dirty="0"/>
              <a:t> margin </a:t>
            </a:r>
            <a:r>
              <a:rPr lang="en-ID" sz="1200" dirty="0" err="1"/>
              <a:t>keuntungan</a:t>
            </a:r>
            <a:r>
              <a:rPr lang="en-ID" sz="1200" dirty="0"/>
              <a:t> di wilayah </a:t>
            </a:r>
            <a:r>
              <a:rPr lang="en-ID" sz="1200" dirty="0" err="1"/>
              <a:t>tersebut</a:t>
            </a:r>
            <a:r>
              <a:rPr lang="en-ID" sz="1200" dirty="0"/>
              <a:t> </a:t>
            </a:r>
            <a:r>
              <a:rPr lang="en-ID" sz="1200" dirty="0" err="1"/>
              <a:t>bisa</a:t>
            </a:r>
            <a:r>
              <a:rPr lang="en-ID" sz="1200" dirty="0"/>
              <a:t> </a:t>
            </a:r>
            <a:r>
              <a:rPr lang="en-ID" sz="1200" dirty="0" err="1"/>
              <a:t>mendekati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di Jawa Barat. </a:t>
            </a:r>
            <a:r>
              <a:rPr lang="en-ID" sz="1200" dirty="0" err="1"/>
              <a:t>Gunakan</a:t>
            </a:r>
            <a:r>
              <a:rPr lang="en-ID" sz="1200" dirty="0"/>
              <a:t> </a:t>
            </a:r>
            <a:r>
              <a:rPr lang="en-ID" sz="1200" dirty="0" err="1"/>
              <a:t>aplikasi</a:t>
            </a:r>
            <a:r>
              <a:rPr lang="en-ID" sz="1200" dirty="0"/>
              <a:t> </a:t>
            </a:r>
            <a:r>
              <a:rPr lang="en-ID" sz="1200" dirty="0" err="1"/>
              <a:t>pemesanan</a:t>
            </a:r>
            <a:r>
              <a:rPr lang="en-ID" sz="1200" dirty="0"/>
              <a:t> online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menjangkau</a:t>
            </a:r>
            <a:r>
              <a:rPr lang="en-ID" sz="1200" dirty="0"/>
              <a:t> </a:t>
            </a:r>
            <a:r>
              <a:rPr lang="en-ID" sz="1200" dirty="0" err="1"/>
              <a:t>daerah</a:t>
            </a:r>
            <a:r>
              <a:rPr lang="en-ID" sz="1200" dirty="0"/>
              <a:t> yang </a:t>
            </a:r>
            <a:r>
              <a:rPr lang="en-ID" sz="1200" dirty="0" err="1"/>
              <a:t>jauh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Lokasi </a:t>
            </a:r>
            <a:r>
              <a:rPr lang="en-ID" sz="1200" dirty="0" err="1"/>
              <a:t>cabang</a:t>
            </a:r>
            <a:r>
              <a:rPr lang="en-ID" sz="1200" dirty="0"/>
              <a:t> di </a:t>
            </a:r>
            <a:r>
              <a:rPr lang="en-ID" sz="1200" dirty="0" err="1"/>
              <a:t>berbagai</a:t>
            </a:r>
            <a:r>
              <a:rPr lang="en-ID" sz="1200" dirty="0"/>
              <a:t> </a:t>
            </a:r>
            <a:r>
              <a:rPr lang="en-ID" sz="1200" dirty="0" err="1"/>
              <a:t>daerah</a:t>
            </a:r>
            <a:r>
              <a:rPr lang="en-ID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93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i="0" u="none" strike="noStrike" cap="non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b="0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871775" y="4265129"/>
            <a:ext cx="1538100" cy="541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2" name="Google Shape;103;p4">
            <a:extLst>
              <a:ext uri="{FF2B5EF4-FFF2-40B4-BE49-F238E27FC236}">
                <a16:creationId xmlns:a16="http://schemas.microsoft.com/office/drawing/2014/main" id="{A15B0DEA-80E3-78B9-301B-50CABF33875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0746" y="4217001"/>
            <a:ext cx="1381771" cy="4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43">
    <a:dk1>
      <a:srgbClr val="000000"/>
    </a:dk1>
    <a:lt1>
      <a:srgbClr val="FFFFFF"/>
    </a:lt1>
    <a:dk2>
      <a:srgbClr val="64DFED"/>
    </a:dk2>
    <a:lt2>
      <a:srgbClr val="E7E6E6"/>
    </a:lt2>
    <a:accent1>
      <a:srgbClr val="92CDF0"/>
    </a:accent1>
    <a:accent2>
      <a:srgbClr val="92CDF0"/>
    </a:accent2>
    <a:accent3>
      <a:srgbClr val="ABC3F0"/>
    </a:accent3>
    <a:accent4>
      <a:srgbClr val="C3B9F2"/>
    </a:accent4>
    <a:accent5>
      <a:srgbClr val="AAA5F9"/>
    </a:accent5>
    <a:accent6>
      <a:srgbClr val="F6A6F4"/>
    </a:accent6>
    <a:hlink>
      <a:srgbClr val="0563C1"/>
    </a:hlink>
    <a:folHlink>
      <a:srgbClr val="954F72"/>
    </a:folHlink>
  </a:clrScheme>
  <a:fontScheme name="Custom 39">
    <a:majorFont>
      <a:latin typeface="Tw Cen MT"/>
      <a:ea typeface=""/>
      <a:cs typeface=""/>
    </a:majorFont>
    <a:minorFont>
      <a:latin typeface="Segoe UI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1407</Words>
  <Application>Microsoft Office PowerPoint</Application>
  <PresentationFormat>On-screen Show (16:9)</PresentationFormat>
  <Paragraphs>151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Rubik SemiBold</vt:lpstr>
      <vt:lpstr>Roboto Mono</vt:lpstr>
      <vt:lpstr>Rubik Light</vt:lpstr>
      <vt:lpstr>Rubik</vt:lpstr>
      <vt:lpstr>Rubik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Sahara Defretes</cp:lastModifiedBy>
  <cp:revision>5</cp:revision>
  <dcterms:modified xsi:type="dcterms:W3CDTF">2025-12-29T15:01:20Z</dcterms:modified>
</cp:coreProperties>
</file>